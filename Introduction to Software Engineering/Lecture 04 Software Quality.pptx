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65" r:id="rId3"/>
    <p:sldId id="269" r:id="rId4"/>
    <p:sldId id="267" r:id="rId5"/>
    <p:sldId id="268" r:id="rId6"/>
    <p:sldId id="257" r:id="rId7"/>
    <p:sldId id="258" r:id="rId8"/>
    <p:sldId id="259" r:id="rId9"/>
    <p:sldId id="27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29FB3-A71D-4B3A-A405-DF267F832C89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7708AC-D068-4712-90A7-C82560F02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748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6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27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41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23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69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0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32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806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291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5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82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755DF021-80DC-4A53-99FB-A07EFEA45CF8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ADA0E2FF-EB42-43EC-8C19-F0B85CE14A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17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Qualities of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48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Engineering (SE)</a:t>
            </a:r>
          </a:p>
          <a:p>
            <a:r>
              <a:rPr lang="en-US" dirty="0"/>
              <a:t>Software lifecycle</a:t>
            </a:r>
          </a:p>
          <a:p>
            <a:r>
              <a:rPr lang="en-US" dirty="0"/>
              <a:t>Challenges for Software Engineers</a:t>
            </a:r>
          </a:p>
          <a:p>
            <a:r>
              <a:rPr lang="en-US" dirty="0"/>
              <a:t>Costs in Software Engineering</a:t>
            </a:r>
          </a:p>
          <a:p>
            <a:r>
              <a:rPr lang="en-US" dirty="0"/>
              <a:t>Nature of software</a:t>
            </a:r>
          </a:p>
        </p:txBody>
      </p:sp>
    </p:spTree>
    <p:extLst>
      <p:ext uri="{BB962C8B-B14F-4D97-AF65-F5344CB8AC3E}">
        <p14:creationId xmlns:p14="http://schemas.microsoft.com/office/powerpoint/2010/main" val="111123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Engineering (Recap)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Disciplined, consistent, and systematic effort to construct (design + build) and maintain software in timely and cost-effective manner</a:t>
            </a:r>
          </a:p>
        </p:txBody>
      </p:sp>
    </p:spTree>
    <p:extLst>
      <p:ext uri="{BB962C8B-B14F-4D97-AF65-F5344CB8AC3E}">
        <p14:creationId xmlns:p14="http://schemas.microsoft.com/office/powerpoint/2010/main" val="1619353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Good Software Product?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Good software engineering must always include a strategy for producing quality software</a:t>
            </a:r>
          </a:p>
          <a:p>
            <a:r>
              <a:rPr lang="en-US" dirty="0"/>
              <a:t>Product Quality?</a:t>
            </a:r>
          </a:p>
          <a:p>
            <a:pPr lvl="1"/>
            <a:r>
              <a:rPr lang="en-US" dirty="0"/>
              <a:t>Multiple facets…</a:t>
            </a:r>
          </a:p>
        </p:txBody>
      </p:sp>
    </p:spTree>
    <p:extLst>
      <p:ext uri="{BB962C8B-B14F-4D97-AF65-F5344CB8AC3E}">
        <p14:creationId xmlns:p14="http://schemas.microsoft.com/office/powerpoint/2010/main" val="405732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Good Software Product?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Users judge external characteristics (e.g., correct functionality, number of failures, type of failures)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Designers and maintainers judge internal characteristics (e.g., ease of modification)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dirty="0"/>
              <a:t>Thus different stakeholders may have different criteria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513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and Internal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Visible to the users of the system</a:t>
            </a:r>
          </a:p>
          <a:p>
            <a:r>
              <a:rPr lang="en-US" dirty="0"/>
              <a:t>Concern the developers of the system</a:t>
            </a:r>
          </a:p>
          <a:p>
            <a:pPr lvl="1"/>
            <a:r>
              <a:rPr lang="en-US" dirty="0"/>
              <a:t>Deal with the structure of the software</a:t>
            </a:r>
          </a:p>
        </p:txBody>
      </p:sp>
    </p:spTree>
    <p:extLst>
      <p:ext uri="{BB962C8B-B14F-4D97-AF65-F5344CB8AC3E}">
        <p14:creationId xmlns:p14="http://schemas.microsoft.com/office/powerpoint/2010/main" val="1565798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and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Product: The software delivered to the customer</a:t>
            </a:r>
          </a:p>
          <a:p>
            <a:pPr lvl="1"/>
            <a:r>
              <a:rPr lang="en-US" dirty="0"/>
              <a:t>What about work products?</a:t>
            </a:r>
          </a:p>
          <a:p>
            <a:r>
              <a:rPr lang="en-US" dirty="0"/>
              <a:t>Process: software production process</a:t>
            </a:r>
          </a:p>
        </p:txBody>
      </p:sp>
    </p:spTree>
    <p:extLst>
      <p:ext uri="{BB962C8B-B14F-4D97-AF65-F5344CB8AC3E}">
        <p14:creationId xmlns:p14="http://schemas.microsoft.com/office/powerpoint/2010/main" val="2155604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Aspects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Correctness</a:t>
            </a:r>
          </a:p>
          <a:p>
            <a:pPr lvl="1"/>
            <a:r>
              <a:rPr lang="en-US" dirty="0"/>
              <a:t>Mathematical property that establishes equivalence between the software and its specification</a:t>
            </a:r>
          </a:p>
          <a:p>
            <a:pPr lvl="1"/>
            <a:r>
              <a:rPr lang="en-US" dirty="0"/>
              <a:t>Can be achieved for example by using standard proven libraries/modules, methodologies, processes</a:t>
            </a:r>
          </a:p>
          <a:p>
            <a:r>
              <a:rPr lang="en-US" dirty="0"/>
              <a:t>Reliability</a:t>
            </a:r>
          </a:p>
          <a:p>
            <a:pPr lvl="1"/>
            <a:r>
              <a:rPr lang="en-US" dirty="0"/>
              <a:t>Sometimes termed as Dependability</a:t>
            </a:r>
          </a:p>
          <a:p>
            <a:pPr lvl="1"/>
            <a:r>
              <a:rPr lang="en-US" dirty="0"/>
              <a:t>The probability that the software will operate as expected over a specified period of time interval</a:t>
            </a:r>
          </a:p>
          <a:p>
            <a:r>
              <a:rPr lang="en-US" dirty="0"/>
              <a:t>Robustness</a:t>
            </a:r>
          </a:p>
          <a:p>
            <a:pPr lvl="1"/>
            <a:r>
              <a:rPr lang="en-US" dirty="0"/>
              <a:t>Software behaves reasonably in case of unexpected input/situation</a:t>
            </a:r>
          </a:p>
        </p:txBody>
      </p:sp>
    </p:spTree>
    <p:extLst>
      <p:ext uri="{BB962C8B-B14F-4D97-AF65-F5344CB8AC3E}">
        <p14:creationId xmlns:p14="http://schemas.microsoft.com/office/powerpoint/2010/main" val="1479838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Aspects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Performance</a:t>
            </a:r>
          </a:p>
          <a:p>
            <a:pPr lvl="1"/>
            <a:r>
              <a:rPr lang="en-US" dirty="0"/>
              <a:t>How much work does a software perform in a unit time maybe</a:t>
            </a:r>
          </a:p>
          <a:p>
            <a:r>
              <a:rPr lang="en-US" dirty="0"/>
              <a:t>Efficiency</a:t>
            </a:r>
          </a:p>
          <a:p>
            <a:pPr lvl="1"/>
            <a:r>
              <a:rPr lang="en-US" dirty="0"/>
              <a:t>How economically the software utilizes the resources of the computer</a:t>
            </a:r>
          </a:p>
          <a:p>
            <a:r>
              <a:rPr lang="en-US" dirty="0"/>
              <a:t>Usability</a:t>
            </a:r>
          </a:p>
          <a:p>
            <a:pPr lvl="1"/>
            <a:r>
              <a:rPr lang="en-US" dirty="0"/>
              <a:t>User friendliness</a:t>
            </a:r>
          </a:p>
          <a:p>
            <a:pPr lvl="1"/>
            <a:r>
              <a:rPr lang="en-US" dirty="0"/>
              <a:t>How well do the human users find the software easy to use</a:t>
            </a:r>
          </a:p>
          <a:p>
            <a:r>
              <a:rPr lang="en-US" dirty="0"/>
              <a:t>Verifiability</a:t>
            </a:r>
          </a:p>
          <a:p>
            <a:pPr lvl="1"/>
            <a:r>
              <a:rPr lang="en-US" dirty="0"/>
              <a:t>If the properties of the software can be verified</a:t>
            </a:r>
          </a:p>
        </p:txBody>
      </p:sp>
    </p:spTree>
    <p:extLst>
      <p:ext uri="{BB962C8B-B14F-4D97-AF65-F5344CB8AC3E}">
        <p14:creationId xmlns:p14="http://schemas.microsoft.com/office/powerpoint/2010/main" val="1116787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Aspects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Maintainability</a:t>
            </a:r>
          </a:p>
          <a:p>
            <a:pPr lvl="1"/>
            <a:r>
              <a:rPr lang="en-US" dirty="0"/>
              <a:t>Corrective (~20), Adaptive (~20), Perfective (over 50)</a:t>
            </a:r>
          </a:p>
          <a:p>
            <a:pPr lvl="1"/>
            <a:r>
              <a:rPr lang="en-US" dirty="0" err="1"/>
              <a:t>Repairability</a:t>
            </a:r>
            <a:endParaRPr lang="en-US" dirty="0"/>
          </a:p>
          <a:p>
            <a:pPr lvl="2"/>
            <a:r>
              <a:rPr lang="en-US" dirty="0"/>
              <a:t>Can the </a:t>
            </a:r>
            <a:r>
              <a:rPr lang="en-US" u="sng" dirty="0"/>
              <a:t>defects be corrected</a:t>
            </a:r>
            <a:r>
              <a:rPr lang="en-US" dirty="0"/>
              <a:t> in reasonable amount of time with a reasonable amount of work?</a:t>
            </a:r>
          </a:p>
          <a:p>
            <a:pPr lvl="2"/>
            <a:r>
              <a:rPr lang="en-US" dirty="0"/>
              <a:t>Modularity?</a:t>
            </a:r>
          </a:p>
          <a:p>
            <a:pPr lvl="1"/>
            <a:r>
              <a:rPr lang="en-US" dirty="0" err="1"/>
              <a:t>Evolvability</a:t>
            </a:r>
            <a:endParaRPr lang="en-US" dirty="0"/>
          </a:p>
          <a:p>
            <a:pPr lvl="2"/>
            <a:r>
              <a:rPr lang="en-US" dirty="0"/>
              <a:t>Can we easily change the software to </a:t>
            </a:r>
            <a:r>
              <a:rPr lang="en-US" u="sng" dirty="0"/>
              <a:t>satisfy a new/changed requirement</a:t>
            </a:r>
            <a:r>
              <a:rPr lang="en-US" dirty="0"/>
              <a:t>? economically?</a:t>
            </a:r>
          </a:p>
          <a:p>
            <a:pPr lvl="2"/>
            <a:r>
              <a:rPr lang="en-US" dirty="0"/>
              <a:t>Modularity? Updated documentation? Feasibility study? Impact analysis?</a:t>
            </a:r>
          </a:p>
        </p:txBody>
      </p:sp>
    </p:spTree>
    <p:extLst>
      <p:ext uri="{BB962C8B-B14F-4D97-AF65-F5344CB8AC3E}">
        <p14:creationId xmlns:p14="http://schemas.microsoft.com/office/powerpoint/2010/main" val="106883147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4091</TotalTime>
  <Words>351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Metropolitan</vt:lpstr>
      <vt:lpstr>Qualities of Software</vt:lpstr>
      <vt:lpstr>Recap</vt:lpstr>
      <vt:lpstr>Software Engineering (Recap)</vt:lpstr>
      <vt:lpstr>What is a Good Software Product?</vt:lpstr>
      <vt:lpstr>What is a Good Software Product?</vt:lpstr>
      <vt:lpstr>External and Internal Characteristics</vt:lpstr>
      <vt:lpstr>Product and Process</vt:lpstr>
      <vt:lpstr>Quality Aspects</vt:lpstr>
      <vt:lpstr>Quality Aspects (Contd.)</vt:lpstr>
      <vt:lpstr>Quality Aspects (Contd.)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Qualities of Software</dc:title>
  <dc:creator>Zeeshan Ali Rana</dc:creator>
  <cp:lastModifiedBy>Zeeshan</cp:lastModifiedBy>
  <cp:revision>30</cp:revision>
  <dcterms:created xsi:type="dcterms:W3CDTF">2021-04-06T04:08:59Z</dcterms:created>
  <dcterms:modified xsi:type="dcterms:W3CDTF">2026-09-01T15:35:49Z</dcterms:modified>
</cp:coreProperties>
</file>