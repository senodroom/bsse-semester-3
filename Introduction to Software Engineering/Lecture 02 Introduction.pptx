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430" r:id="rId2"/>
    <p:sldId id="384" r:id="rId3"/>
    <p:sldId id="426" r:id="rId4"/>
    <p:sldId id="427" r:id="rId5"/>
    <p:sldId id="431" r:id="rId6"/>
    <p:sldId id="432" r:id="rId7"/>
    <p:sldId id="446" r:id="rId8"/>
    <p:sldId id="391" r:id="rId9"/>
    <p:sldId id="437" r:id="rId10"/>
    <p:sldId id="438" r:id="rId11"/>
    <p:sldId id="448" r:id="rId12"/>
    <p:sldId id="447" r:id="rId13"/>
    <p:sldId id="433" r:id="rId14"/>
    <p:sldId id="434" r:id="rId15"/>
    <p:sldId id="435" r:id="rId16"/>
    <p:sldId id="436" r:id="rId17"/>
    <p:sldId id="449" r:id="rId18"/>
    <p:sldId id="450" r:id="rId19"/>
    <p:sldId id="36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76" autoAdjust="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05391513560802E-2"/>
          <c:y val="5.9212890055409743E-2"/>
          <c:w val="0.89309738626421697"/>
          <c:h val="0.69638903470399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exp"/>
            <c:dispRSqr val="0"/>
            <c:dispEq val="0"/>
          </c:trendline>
          <c:cat>
            <c:strRef>
              <c:f>Sheet1!$A$2:$A$7</c:f>
              <c:strCache>
                <c:ptCount val="6"/>
                <c:pt idx="0">
                  <c:v>Requirements</c:v>
                </c:pt>
                <c:pt idx="1">
                  <c:v>Design</c:v>
                </c:pt>
                <c:pt idx="2">
                  <c:v>Code</c:v>
                </c:pt>
                <c:pt idx="3">
                  <c:v>Testing</c:v>
                </c:pt>
                <c:pt idx="4">
                  <c:v>System Testing</c:v>
                </c:pt>
                <c:pt idx="5">
                  <c:v>Maintenance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2.5</c:v>
                </c:pt>
                <c:pt idx="2">
                  <c:v>6.5</c:v>
                </c:pt>
                <c:pt idx="3">
                  <c:v>16</c:v>
                </c:pt>
                <c:pt idx="4">
                  <c:v>40</c:v>
                </c:pt>
                <c:pt idx="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5E-4C16-9801-F366CF9B8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909626176"/>
        <c:axId val="-909636512"/>
      </c:barChart>
      <c:catAx>
        <c:axId val="-9096261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crossAx val="-909636512"/>
        <c:crosses val="autoZero"/>
        <c:auto val="1"/>
        <c:lblAlgn val="ctr"/>
        <c:lblOffset val="100"/>
        <c:noMultiLvlLbl val="0"/>
      </c:catAx>
      <c:valAx>
        <c:axId val="-909636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909626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CDF98-04A3-4FA1-8165-AC9A68647D5A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8B157-7CD0-4B3B-9669-778326D8A8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2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lIns="91432" tIns="45716" rIns="91432" bIns="45716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604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13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5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9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1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5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6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16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5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7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C3173D3E-08EC-4E65-995F-34869A3E30B2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36A3C13E-447A-4891-ABC5-4FB1EA8C45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0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452628" y="4343400"/>
            <a:ext cx="8458200" cy="99060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/>
              <a:t>Skills required to transform requirements into working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096000"/>
            <a:ext cx="2268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Zeeshan</a:t>
            </a:r>
            <a:r>
              <a:rPr lang="en-US" sz="2400" dirty="0">
                <a:solidFill>
                  <a:schemeClr val="bg1"/>
                </a:solidFill>
              </a:rPr>
              <a:t> Ali </a:t>
            </a:r>
            <a:r>
              <a:rPr lang="en-US" sz="2400" dirty="0" err="1">
                <a:solidFill>
                  <a:schemeClr val="bg1"/>
                </a:solidFill>
              </a:rPr>
              <a:t>Rana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2628" y="609600"/>
            <a:ext cx="8086725" cy="3352800"/>
          </a:xfrm>
        </p:spPr>
        <p:txBody>
          <a:bodyPr/>
          <a:lstStyle/>
          <a:p>
            <a:pPr algn="ctr"/>
            <a:r>
              <a:rPr lang="en-US" sz="7200" dirty="0"/>
              <a:t>Introduction to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249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Problems</a:t>
            </a:r>
          </a:p>
          <a:p>
            <a:pPr lvl="1"/>
            <a:r>
              <a:rPr lang="en-US" dirty="0"/>
              <a:t>Computers</a:t>
            </a:r>
          </a:p>
          <a:p>
            <a:pPr lvl="1"/>
            <a:r>
              <a:rPr lang="en-US" dirty="0"/>
              <a:t>Computing</a:t>
            </a:r>
          </a:p>
        </p:txBody>
      </p:sp>
      <p:sp>
        <p:nvSpPr>
          <p:cNvPr id="4" name="TextBox 3"/>
          <p:cNvSpPr txBox="1"/>
          <p:nvPr/>
        </p:nvSpPr>
        <p:spPr>
          <a:xfrm rot="19998048">
            <a:off x="4265692" y="4018242"/>
            <a:ext cx="426449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Multi-person construction of multi-version software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5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programs along with associated configuration data and documentation </a:t>
            </a:r>
            <a:r>
              <a:rPr lang="en-US" dirty="0" err="1"/>
              <a:t>s.t.</a:t>
            </a:r>
            <a:r>
              <a:rPr lang="en-US" dirty="0"/>
              <a:t> the programs are correctly operated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Configuration data helps set up the programs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System documentation helps understand structure of the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documentation explains how to use the system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Example? 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089633"/>
              </p:ext>
            </p:extLst>
          </p:nvPr>
        </p:nvGraphicFramePr>
        <p:xfrm>
          <a:off x="2895599" y="4343400"/>
          <a:ext cx="6096001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Fruit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Farmer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Farmer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Garden 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Garden 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1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Engineers’ Job?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Make things 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Apply theories, methodologies, tools appropriately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Provide solutions in absence of applicable theories and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Realize financial and organizational constraints </a:t>
            </a:r>
          </a:p>
        </p:txBody>
      </p:sp>
    </p:spTree>
    <p:extLst>
      <p:ext uri="{BB962C8B-B14F-4D97-AF65-F5344CB8AC3E}">
        <p14:creationId xmlns:p14="http://schemas.microsoft.com/office/powerpoint/2010/main" val="207718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0"/>
            <a:ext cx="8229600" cy="1143000"/>
          </a:xfrm>
        </p:spPr>
        <p:txBody>
          <a:bodyPr tIns="46038" bIns="46038"/>
          <a:lstStyle/>
          <a:p>
            <a:r>
              <a:rPr lang="en-US" dirty="0"/>
              <a:t>Software Engineering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81200"/>
            <a:ext cx="8077200" cy="4038600"/>
          </a:xfrm>
        </p:spPr>
        <p:txBody>
          <a:bodyPr tIns="46038" bIns="46038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cs typeface="Times New Roman" pitchFamily="18" charset="0"/>
              </a:rPr>
              <a:t> Solving problems that involve computing and computers?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cs typeface="Times New Roman" pitchFamily="18" charset="0"/>
              </a:rPr>
              <a:t> Solving problems that involve computing and computers in a consistent/systematic manner?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A set of guidelines for solving the computing and computer related problems in a systematic manner?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</a:rPr>
              <a:t>Engineering</a:t>
            </a:r>
            <a:r>
              <a:rPr lang="en-US" sz="3000" dirty="0"/>
              <a:t> software by remaining concerned about </a:t>
            </a:r>
            <a:r>
              <a:rPr lang="en-US" sz="3000" dirty="0">
                <a:solidFill>
                  <a:srgbClr val="FF0000"/>
                </a:solidFill>
              </a:rPr>
              <a:t>all aspects of software production</a:t>
            </a:r>
            <a:r>
              <a:rPr lang="en-US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979205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Aspects of Software Production?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Size of the software system to be built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Complexity of the software system to be built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Need and involvement of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Technical process of developing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Activities such as management of project and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Development of tools, theories, methods to support production of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Engineering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8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Who Does Software Engineering? 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38400"/>
            <a:ext cx="8229600" cy="3886200"/>
          </a:xfrm>
        </p:spPr>
        <p:txBody>
          <a:bodyPr/>
          <a:lstStyle/>
          <a:p>
            <a:pPr eaLnBrk="1" hangingPunct="1"/>
            <a:r>
              <a:rPr lang="en-GB" dirty="0"/>
              <a:t>Participants (stakeholders) in a software development project</a:t>
            </a:r>
          </a:p>
          <a:p>
            <a:pPr eaLnBrk="1" hangingPunct="1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667000" y="2841625"/>
            <a:ext cx="6400800" cy="3787775"/>
            <a:chOff x="2743200" y="2841625"/>
            <a:chExt cx="6400800" cy="3787775"/>
          </a:xfrm>
        </p:grpSpPr>
        <p:pic>
          <p:nvPicPr>
            <p:cNvPr id="22532" name="Picture 8" descr="Slide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743200" y="2841625"/>
              <a:ext cx="5943600" cy="3787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Rectangle 1"/>
            <p:cNvSpPr/>
            <p:nvPr/>
          </p:nvSpPr>
          <p:spPr>
            <a:xfrm>
              <a:off x="6705600" y="4430712"/>
              <a:ext cx="2438400" cy="2936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SOFTWARE ENGINEER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405257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Development/SE Team</a:t>
            </a:r>
            <a:endParaRPr lang="en-US" sz="2800" dirty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Requirements analysts</a:t>
            </a:r>
            <a:r>
              <a:rPr lang="en-GB" sz="2400" dirty="0"/>
              <a:t>: work with the customers to identify and document the requirements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Designers</a:t>
            </a:r>
            <a:r>
              <a:rPr lang="en-GB" sz="2400" dirty="0"/>
              <a:t>: generate a system-level description of what the system is supposed to do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Programmers</a:t>
            </a:r>
            <a:r>
              <a:rPr lang="en-GB" sz="2400" dirty="0"/>
              <a:t>: write lines of code to implement the design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Testers</a:t>
            </a:r>
            <a:r>
              <a:rPr lang="en-GB" sz="2400" dirty="0"/>
              <a:t>: catch faults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Trainers</a:t>
            </a:r>
            <a:r>
              <a:rPr lang="en-GB" sz="2400" dirty="0"/>
              <a:t>: show users how to use the system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Maintenance team</a:t>
            </a:r>
            <a:r>
              <a:rPr lang="en-GB" sz="2400" dirty="0"/>
              <a:t>: fix faults that show up later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Librarians</a:t>
            </a:r>
            <a:r>
              <a:rPr lang="en-GB" sz="2400" dirty="0"/>
              <a:t>: prepare and store documents such as software requirements</a:t>
            </a:r>
          </a:p>
          <a:p>
            <a:pPr eaLnBrk="1" hangingPunct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/>
              <a:t>Configuration management team</a:t>
            </a:r>
            <a:r>
              <a:rPr lang="en-GB" sz="2400" dirty="0"/>
              <a:t>: maintain correspondence among various artefacts</a:t>
            </a:r>
          </a:p>
        </p:txBody>
      </p:sp>
    </p:spTree>
    <p:extLst>
      <p:ext uri="{BB962C8B-B14F-4D97-AF65-F5344CB8AC3E}">
        <p14:creationId xmlns:p14="http://schemas.microsoft.com/office/powerpoint/2010/main" val="37451530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Development Team (Roles)</a:t>
            </a:r>
            <a:endParaRPr lang="en-US" sz="2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Who Does What?</a:t>
            </a:r>
          </a:p>
          <a:p>
            <a:pPr eaLnBrk="1" hangingPunct="1"/>
            <a:endParaRPr lang="en-US" dirty="0"/>
          </a:p>
        </p:txBody>
      </p:sp>
      <p:pic>
        <p:nvPicPr>
          <p:cNvPr id="1026" name="Picture 2" descr="D:\UCP Data\UCP\Fall 2015-16\ISD\Lecture Slides\roles of dev team s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2265"/>
            <a:ext cx="7162800" cy="667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09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Software Lifecycle</a:t>
            </a:r>
            <a:endParaRPr lang="en-US" sz="28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38400"/>
            <a:ext cx="8229600" cy="3886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Phases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Requirements analysis and definition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(architecture)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 (detailed/procedural) design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Writing programs (coding/implementation)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Testing: unit, integration,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 delivery (deployment)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Maintenance 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914400" y="5562600"/>
            <a:ext cx="7467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7050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Engineering and Software Quality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4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Adopt a systematic and organized approach, effectively, to produce high quality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May have to use Ad hoc approaches to develop software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Some real complex problems may not be solved using elegant theories of CS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new algorithms?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6669" y="1994079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Adopt a systematic and organized approach, effectively, to produce </a:t>
            </a:r>
            <a:r>
              <a:rPr lang="en-US" u="sng" dirty="0">
                <a:solidFill>
                  <a:srgbClr val="FF0000"/>
                </a:solidFill>
              </a:rPr>
              <a:t>high quality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May have to use Ad hoc approaches to develop software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Some real complex problems may not be solved using elegant theories of CS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new algorithms?</a:t>
            </a:r>
          </a:p>
          <a:p>
            <a:pPr lvl="1"/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43000" y="5410200"/>
            <a:ext cx="7086600" cy="83820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6038" rIns="91440" bIns="46038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rgbClr val="FF0000"/>
                </a:solidFill>
                <a:cs typeface="Times New Roman" pitchFamily="18" charset="0"/>
              </a:rPr>
              <a:t>Improve living standards</a:t>
            </a:r>
          </a:p>
          <a:p>
            <a:pPr algn="ctr"/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25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Defects and Software Quality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779896"/>
            <a:ext cx="8229600" cy="454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Defect</a:t>
            </a:r>
          </a:p>
          <a:p>
            <a:pPr lvl="1"/>
            <a:r>
              <a:rPr lang="en-US" dirty="0"/>
              <a:t>Failure to meet requirements (or expectations) of user/customer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2002)</a:t>
            </a:r>
            <a:endParaRPr lang="en-US" dirty="0"/>
          </a:p>
          <a:p>
            <a:r>
              <a:rPr lang="en-US" dirty="0"/>
              <a:t>Software Quality</a:t>
            </a:r>
          </a:p>
          <a:p>
            <a:pPr lvl="1"/>
            <a:r>
              <a:rPr lang="en-US" dirty="0"/>
              <a:t>Fitness for Use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Juran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Gryna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1970)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Conformance to Requirements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(Crosby 1979)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Freedom from Deficiencies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Juran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1988)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/>
              <a:t>Lack of Defects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2002)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4353580"/>
            <a:ext cx="76962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Removal of defects, increases quality, incurs cost.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76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617" y="45352"/>
            <a:ext cx="8686800" cy="1143000"/>
          </a:xfrm>
        </p:spPr>
        <p:txBody>
          <a:bodyPr>
            <a:noAutofit/>
          </a:bodyPr>
          <a:lstStyle/>
          <a:p>
            <a:r>
              <a:rPr lang="en-US" sz="4000" dirty="0"/>
              <a:t>Cost Associated with Defect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4572000"/>
            <a:ext cx="7315200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*Testing the system before delivery and at the time of delivery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DD400-CC96-42FA-80E5-F9CA3AD0FBE0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854332" y="3886200"/>
          <a:ext cx="707046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7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Requirements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Testing and</a:t>
                      </a:r>
                    </a:p>
                    <a:p>
                      <a:pPr algn="ctr"/>
                      <a:r>
                        <a:rPr lang="en-US" sz="1600" dirty="0"/>
                        <a:t>Deployment*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533400" y="1143000"/>
          <a:ext cx="7315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62200" y="6096000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Khoshgoftaar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et al. 1996 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Galin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687" y="1219200"/>
            <a:ext cx="461665" cy="2667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Unit Cost to fix a defect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7800" y="3200400"/>
            <a:ext cx="66294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Defects prevention can reduce costs.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in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to change software</a:t>
            </a:r>
          </a:p>
          <a:p>
            <a:r>
              <a:rPr lang="en-US" dirty="0"/>
              <a:t>Cost to overcome a mistake (defect)</a:t>
            </a:r>
          </a:p>
          <a:p>
            <a:r>
              <a:rPr lang="en-US" dirty="0"/>
              <a:t>Cost of developing software</a:t>
            </a:r>
          </a:p>
          <a:p>
            <a:r>
              <a:rPr lang="en-US" dirty="0"/>
              <a:t>Operational cost</a:t>
            </a:r>
          </a:p>
          <a:p>
            <a:r>
              <a:rPr lang="en-US" dirty="0"/>
              <a:t>Deployment cost</a:t>
            </a:r>
          </a:p>
        </p:txBody>
      </p:sp>
    </p:spTree>
    <p:extLst>
      <p:ext uri="{BB962C8B-B14F-4D97-AF65-F5344CB8AC3E}">
        <p14:creationId xmlns:p14="http://schemas.microsoft.com/office/powerpoint/2010/main" val="86132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Engineering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Acceptable Quality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Cost Effectiveness</a:t>
            </a:r>
          </a:p>
          <a:p>
            <a:pPr lvl="1"/>
            <a:r>
              <a:rPr lang="en-US" dirty="0"/>
              <a:t>Engineering and operational feasibility</a:t>
            </a:r>
          </a:p>
          <a:p>
            <a:pPr lvl="1"/>
            <a:r>
              <a:rPr lang="en-US" dirty="0"/>
              <a:t>Limited development budget</a:t>
            </a:r>
          </a:p>
          <a:p>
            <a:r>
              <a:rPr lang="en-US" dirty="0"/>
              <a:t>Timely Completion</a:t>
            </a:r>
          </a:p>
          <a:p>
            <a:pPr lvl="1"/>
            <a:r>
              <a:rPr lang="en-US" dirty="0"/>
              <a:t>Limited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54067"/>
            <a:ext cx="4114800" cy="1015663"/>
          </a:xfrm>
          <a:prstGeom prst="rect">
            <a:avLst/>
          </a:prstGeom>
          <a:solidFill>
            <a:srgbClr val="FFFF00">
              <a:alpha val="64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Conflicts?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4474191"/>
            <a:ext cx="5791200" cy="1938992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0B050"/>
                </a:solidFill>
              </a:rPr>
              <a:t>Manage Conflicts…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0347" y="1600297"/>
            <a:ext cx="3581401" cy="1200329"/>
          </a:xfrm>
          <a:prstGeom prst="rect">
            <a:avLst/>
          </a:prstGeom>
          <a:solidFill>
            <a:schemeClr val="accent6">
              <a:alpha val="6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… good enough software</a:t>
            </a:r>
          </a:p>
        </p:txBody>
      </p:sp>
    </p:spTree>
    <p:extLst>
      <p:ext uri="{BB962C8B-B14F-4D97-AF65-F5344CB8AC3E}">
        <p14:creationId xmlns:p14="http://schemas.microsoft.com/office/powerpoint/2010/main" val="235516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Disciplined, consistent, and systematic effort to construct (design + build) </a:t>
            </a:r>
            <a:r>
              <a:rPr lang="en-US"/>
              <a:t>and maintain </a:t>
            </a:r>
            <a:r>
              <a:rPr lang="en-US" dirty="0"/>
              <a:t>software in timely and cost-effective manner</a:t>
            </a:r>
          </a:p>
        </p:txBody>
      </p:sp>
    </p:spTree>
    <p:extLst>
      <p:ext uri="{BB962C8B-B14F-4D97-AF65-F5344CB8AC3E}">
        <p14:creationId xmlns:p14="http://schemas.microsoft.com/office/powerpoint/2010/main" val="766903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References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229600" cy="294132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Roger Pressman, Software Engineering: A Practitioner’s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Ghezzi</a:t>
            </a:r>
            <a:r>
              <a:rPr lang="en-US" dirty="0"/>
              <a:t> et al., Fundamentals of Software Engineering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Pfleeger</a:t>
            </a:r>
            <a:r>
              <a:rPr lang="en-US" dirty="0"/>
              <a:t> et al. Software Engineering, Theory </a:t>
            </a:r>
            <a:r>
              <a:rPr lang="en-US"/>
              <a:t>and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9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24305</TotalTime>
  <Words>709</Words>
  <Application>Microsoft Office PowerPoint</Application>
  <PresentationFormat>On-screen Show (4:3)</PresentationFormat>
  <Paragraphs>135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Metropolitan</vt:lpstr>
      <vt:lpstr>Introduction to Software Engineering</vt:lpstr>
      <vt:lpstr>Software Engineering</vt:lpstr>
      <vt:lpstr>Software?</vt:lpstr>
      <vt:lpstr>Engineering?</vt:lpstr>
      <vt:lpstr>Software Engineering</vt:lpstr>
      <vt:lpstr>Aspects of Software Production?</vt:lpstr>
      <vt:lpstr>Software Engineering Team</vt:lpstr>
      <vt:lpstr>Who Does Software Engineering? </vt:lpstr>
      <vt:lpstr>Development/SE Team</vt:lpstr>
      <vt:lpstr>Development Team (Roles)</vt:lpstr>
      <vt:lpstr>Software Lifecycle</vt:lpstr>
      <vt:lpstr>Software Engineering and Software Quality</vt:lpstr>
      <vt:lpstr>Software Engineers?</vt:lpstr>
      <vt:lpstr>Defects and Software Quality</vt:lpstr>
      <vt:lpstr>Cost Associated with Defect Correction</vt:lpstr>
      <vt:lpstr>Costs in Software Engineering</vt:lpstr>
      <vt:lpstr>Software Engineering Challenges</vt:lpstr>
      <vt:lpstr>Software Engineering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aadil</dc:creator>
  <cp:lastModifiedBy>Zeeshan</cp:lastModifiedBy>
  <cp:revision>290</cp:revision>
  <dcterms:created xsi:type="dcterms:W3CDTF">2011-09-06T15:43:21Z</dcterms:created>
  <dcterms:modified xsi:type="dcterms:W3CDTF">2026-09-01T15:42:50Z</dcterms:modified>
</cp:coreProperties>
</file>