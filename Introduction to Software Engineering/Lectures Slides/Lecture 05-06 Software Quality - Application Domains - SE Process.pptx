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2" r:id="rId3"/>
    <p:sldId id="271" r:id="rId4"/>
    <p:sldId id="263" r:id="rId5"/>
    <p:sldId id="284" r:id="rId6"/>
    <p:sldId id="267" r:id="rId7"/>
    <p:sldId id="266" r:id="rId8"/>
    <p:sldId id="265" r:id="rId9"/>
    <p:sldId id="285" r:id="rId10"/>
    <p:sldId id="274" r:id="rId11"/>
    <p:sldId id="275" r:id="rId12"/>
    <p:sldId id="276" r:id="rId13"/>
    <p:sldId id="272" r:id="rId14"/>
    <p:sldId id="277" r:id="rId15"/>
    <p:sldId id="278" r:id="rId16"/>
    <p:sldId id="273" r:id="rId17"/>
    <p:sldId id="279" r:id="rId18"/>
    <p:sldId id="258" r:id="rId19"/>
    <p:sldId id="259" r:id="rId20"/>
    <p:sldId id="260" r:id="rId21"/>
    <p:sldId id="261" r:id="rId22"/>
    <p:sldId id="280" r:id="rId23"/>
    <p:sldId id="281" r:id="rId24"/>
    <p:sldId id="282" r:id="rId25"/>
    <p:sldId id="264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D98BD1-46BA-45CE-B358-EF66528C49B2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96550-FCAF-4FBE-8BFB-F239B9F97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82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7256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89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3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15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6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91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46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52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64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36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87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6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DF021-80DC-4A53-99FB-A07EFEA45CF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68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Qualities of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48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Aspects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Reusability</a:t>
            </a:r>
          </a:p>
          <a:p>
            <a:r>
              <a:rPr lang="en-US" dirty="0"/>
              <a:t>Portability</a:t>
            </a:r>
          </a:p>
          <a:p>
            <a:pPr lvl="1"/>
            <a:r>
              <a:rPr lang="en-US" dirty="0"/>
              <a:t>Can it run in different environments?</a:t>
            </a:r>
          </a:p>
          <a:p>
            <a:r>
              <a:rPr lang="en-US" dirty="0"/>
              <a:t>Understandability</a:t>
            </a:r>
          </a:p>
          <a:p>
            <a:pPr lvl="1"/>
            <a:r>
              <a:rPr lang="en-US" dirty="0"/>
              <a:t>For the tasks of inherently similar difficulty is the software system easy to understand?</a:t>
            </a:r>
          </a:p>
          <a:p>
            <a:r>
              <a:rPr lang="en-US" dirty="0"/>
              <a:t>Interoperability</a:t>
            </a:r>
          </a:p>
          <a:p>
            <a:pPr lvl="1"/>
            <a:r>
              <a:rPr lang="en-US" dirty="0"/>
              <a:t>Ability to coexist and cooperate with other systems</a:t>
            </a:r>
          </a:p>
          <a:p>
            <a:r>
              <a:rPr lang="en-US" dirty="0"/>
              <a:t>Security</a:t>
            </a:r>
          </a:p>
          <a:p>
            <a:pPr lvl="1"/>
            <a:r>
              <a:rPr lang="en-US" dirty="0"/>
              <a:t>Ability to keep information safe; ability to avoid intrusions; low number of vulnerabilities</a:t>
            </a:r>
          </a:p>
          <a:p>
            <a:pPr lvl="1"/>
            <a:r>
              <a:rPr lang="en-US" dirty="0"/>
              <a:t>Integrity, Confidentiality?</a:t>
            </a:r>
          </a:p>
        </p:txBody>
      </p:sp>
    </p:spTree>
    <p:extLst>
      <p:ext uri="{BB962C8B-B14F-4D97-AF65-F5344CB8AC3E}">
        <p14:creationId xmlns:p14="http://schemas.microsoft.com/office/powerpoint/2010/main" val="3492616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Example of Control Structures and Understandability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4096" y="1371601"/>
            <a:ext cx="9387804" cy="5351171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Control skips around among the program’s statements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dirty="0"/>
              <a:t>		</a:t>
            </a:r>
            <a:r>
              <a:rPr lang="en-US" altLang="en-US" sz="1800" dirty="0"/>
              <a:t>benefit = minimum;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sz="1800" dirty="0"/>
              <a:t>		if (age &lt; 75) </a:t>
            </a:r>
            <a:r>
              <a:rPr lang="en-US" altLang="en-US" sz="1800" dirty="0" err="1"/>
              <a:t>goto</a:t>
            </a:r>
            <a:r>
              <a:rPr lang="en-US" altLang="en-US" sz="1800" dirty="0"/>
              <a:t> A;//may be a function call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sz="1800" dirty="0"/>
              <a:t>		benefit = maximum;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sz="1800" dirty="0"/>
              <a:t>		</a:t>
            </a:r>
            <a:r>
              <a:rPr lang="en-US" altLang="en-US" sz="1800" dirty="0" err="1"/>
              <a:t>goto</a:t>
            </a:r>
            <a:r>
              <a:rPr lang="en-US" altLang="en-US" sz="1800" dirty="0"/>
              <a:t> C;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sz="1800" dirty="0"/>
              <a:t>		if (AGE &lt; 65) </a:t>
            </a:r>
            <a:r>
              <a:rPr lang="en-US" altLang="en-US" sz="1800" dirty="0" err="1"/>
              <a:t>goto</a:t>
            </a:r>
            <a:r>
              <a:rPr lang="en-US" altLang="en-US" sz="1800" dirty="0"/>
              <a:t> B;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sz="1800" dirty="0"/>
              <a:t>		if (AGE &lt; 55) </a:t>
            </a:r>
            <a:r>
              <a:rPr lang="en-US" altLang="en-US" sz="1800" dirty="0" err="1"/>
              <a:t>goto</a:t>
            </a:r>
            <a:r>
              <a:rPr lang="en-US" altLang="en-US" sz="1800" dirty="0"/>
              <a:t> C;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sz="1800" dirty="0"/>
              <a:t>A:	if (AGE &lt; 65) </a:t>
            </a:r>
            <a:r>
              <a:rPr lang="en-US" altLang="en-US" sz="1800" dirty="0" err="1"/>
              <a:t>goto</a:t>
            </a:r>
            <a:r>
              <a:rPr lang="en-US" altLang="en-US" sz="1800" dirty="0"/>
              <a:t> B;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sz="1800" dirty="0"/>
              <a:t>		benefit = benefit * 1.5 + bonus;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sz="1800" dirty="0"/>
              <a:t>		</a:t>
            </a:r>
            <a:r>
              <a:rPr lang="en-US" altLang="en-US" sz="1800" dirty="0" err="1"/>
              <a:t>goto</a:t>
            </a:r>
            <a:r>
              <a:rPr lang="en-US" altLang="en-US" sz="1800" dirty="0"/>
              <a:t> C;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sz="1800" dirty="0"/>
              <a:t>B:		if (age &lt; 55) </a:t>
            </a:r>
            <a:r>
              <a:rPr lang="en-US" altLang="en-US" sz="1800" dirty="0" err="1"/>
              <a:t>goto</a:t>
            </a:r>
            <a:r>
              <a:rPr lang="en-US" altLang="en-US" sz="1800" dirty="0"/>
              <a:t> C;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sz="1800" dirty="0"/>
              <a:t>		benefit = benefit * 1.5;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sz="1800" dirty="0"/>
              <a:t>C:	next statement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Rearrange the code</a:t>
            </a:r>
          </a:p>
          <a:p>
            <a:pPr lvl="3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dirty="0"/>
              <a:t>if (age &lt; 55) benefit = minimum;</a:t>
            </a:r>
          </a:p>
          <a:p>
            <a:pPr lvl="3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dirty="0" err="1"/>
              <a:t>elseif</a:t>
            </a:r>
            <a:r>
              <a:rPr lang="en-US" altLang="en-US" dirty="0"/>
              <a:t> (AGE &lt; 65) benefit = minimum + bonus;</a:t>
            </a:r>
          </a:p>
          <a:p>
            <a:pPr lvl="3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dirty="0" err="1"/>
              <a:t>elseif</a:t>
            </a:r>
            <a:r>
              <a:rPr lang="en-US" altLang="en-US" dirty="0"/>
              <a:t> (AGE &lt; 75) benefit = minimum * 1.5 + bonus;</a:t>
            </a:r>
          </a:p>
          <a:p>
            <a:pPr lvl="3" eaLnBrk="1" hangingPunct="1">
              <a:lnSpc>
                <a:spcPct val="80000"/>
              </a:lnSpc>
              <a:spcBef>
                <a:spcPct val="0"/>
              </a:spcBef>
              <a:buFont typeface="Lucida Sans Unicode" panose="020B0602030504020204" pitchFamily="34" charset="0"/>
              <a:buNone/>
            </a:pPr>
            <a:r>
              <a:rPr lang="en-US" altLang="en-US" dirty="0"/>
              <a:t>else benefit = maximum;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  <p:sp>
        <p:nvSpPr>
          <p:cNvPr id="2" name="TextBox 1"/>
          <p:cNvSpPr txBox="1"/>
          <p:nvPr/>
        </p:nvSpPr>
        <p:spPr>
          <a:xfrm rot="19560825">
            <a:off x="7536727" y="3097840"/>
            <a:ext cx="3776663" cy="708025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>
              <a:spcBef>
                <a:spcPts val="600"/>
              </a:spcBef>
              <a:buClr>
                <a:srgbClr val="003399"/>
              </a:buClr>
              <a:buSzPct val="100000"/>
              <a:defRPr/>
            </a:pPr>
            <a:r>
              <a:rPr lang="en-US" sz="4000" dirty="0">
                <a:solidFill>
                  <a:srgbClr val="FF0000"/>
                </a:solidFill>
                <a:latin typeface="+mj-lt"/>
              </a:rPr>
              <a:t>Restructuring</a:t>
            </a:r>
          </a:p>
        </p:txBody>
      </p:sp>
    </p:spTree>
    <p:extLst>
      <p:ext uri="{BB962C8B-B14F-4D97-AF65-F5344CB8AC3E}">
        <p14:creationId xmlns:p14="http://schemas.microsoft.com/office/powerpoint/2010/main" val="7986306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4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4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4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4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Aspects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Productivity</a:t>
            </a:r>
          </a:p>
          <a:p>
            <a:pPr lvl="1"/>
            <a:r>
              <a:rPr lang="en-US" dirty="0"/>
              <a:t>Amount of work done by a software team in a unit time</a:t>
            </a:r>
          </a:p>
          <a:p>
            <a:pPr lvl="1"/>
            <a:r>
              <a:rPr lang="en-US" dirty="0"/>
              <a:t>Efficiency of the process</a:t>
            </a:r>
          </a:p>
          <a:p>
            <a:r>
              <a:rPr lang="en-US" dirty="0"/>
              <a:t>Timeliness</a:t>
            </a:r>
          </a:p>
          <a:p>
            <a:pPr lvl="1"/>
            <a:r>
              <a:rPr lang="en-US" dirty="0"/>
              <a:t>Ability to deliver a product on time</a:t>
            </a:r>
          </a:p>
          <a:p>
            <a:r>
              <a:rPr lang="en-US" dirty="0"/>
              <a:t>Visibility</a:t>
            </a:r>
          </a:p>
          <a:p>
            <a:pPr lvl="1"/>
            <a:r>
              <a:rPr lang="en-US" dirty="0"/>
              <a:t>Have all steps of the process and their current status been </a:t>
            </a:r>
            <a:r>
              <a:rPr lang="en-US"/>
              <a:t>clearly documented?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13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95489-3BE2-3EB7-51A7-B16D8C92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258C3-E2C4-C654-82C7-635562273E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Quality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C6B34-119A-B6A4-F128-3A78D0AE1D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93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McCall’s Quality Model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730" y="1279209"/>
            <a:ext cx="6570521" cy="51533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1" y="3559696"/>
            <a:ext cx="6224587" cy="31122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9244" y="6384219"/>
            <a:ext cx="984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Chapter 15 of 9</a:t>
            </a:r>
            <a:r>
              <a:rPr lang="en-US" baseline="30000" dirty="0"/>
              <a:t>th</a:t>
            </a:r>
            <a:r>
              <a:rPr lang="en-US" dirty="0"/>
              <a:t> Edition of Pressman’s Book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08020" y="188595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Software Product Aspects</a:t>
            </a:r>
          </a:p>
          <a:p>
            <a:pPr lvl="1"/>
            <a:r>
              <a:rPr lang="en-US" dirty="0"/>
              <a:t>Operation characteristics</a:t>
            </a:r>
          </a:p>
          <a:p>
            <a:pPr lvl="1"/>
            <a:r>
              <a:rPr lang="en-US" dirty="0"/>
              <a:t>Ability to undergo change</a:t>
            </a:r>
          </a:p>
          <a:p>
            <a:pPr lvl="1"/>
            <a:r>
              <a:rPr lang="en-US" dirty="0"/>
              <a:t>Adaptability to new environments</a:t>
            </a:r>
          </a:p>
        </p:txBody>
      </p:sp>
    </p:spTree>
    <p:extLst>
      <p:ext uri="{BB962C8B-B14F-4D97-AF65-F5344CB8AC3E}">
        <p14:creationId xmlns:p14="http://schemas.microsoft.com/office/powerpoint/2010/main" val="329232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FURPS by HP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Functionality</a:t>
            </a:r>
          </a:p>
          <a:p>
            <a:r>
              <a:rPr lang="en-US" dirty="0"/>
              <a:t>Usability</a:t>
            </a:r>
          </a:p>
          <a:p>
            <a:r>
              <a:rPr lang="en-US" dirty="0"/>
              <a:t>Reliability</a:t>
            </a:r>
          </a:p>
          <a:p>
            <a:r>
              <a:rPr lang="en-US" dirty="0"/>
              <a:t>Performance</a:t>
            </a:r>
          </a:p>
          <a:p>
            <a:r>
              <a:rPr lang="en-US" dirty="0"/>
              <a:t>Supportability</a:t>
            </a:r>
          </a:p>
          <a:p>
            <a:pPr lvl="1"/>
            <a:r>
              <a:rPr lang="en-US" dirty="0"/>
              <a:t>Ease with which a system can be installed, its problems can be localized</a:t>
            </a:r>
          </a:p>
          <a:p>
            <a:pPr lvl="1"/>
            <a:r>
              <a:rPr lang="en-US" dirty="0"/>
              <a:t>Maintainability?</a:t>
            </a:r>
          </a:p>
        </p:txBody>
      </p:sp>
    </p:spTree>
    <p:extLst>
      <p:ext uri="{BB962C8B-B14F-4D97-AF65-F5344CB8AC3E}">
        <p14:creationId xmlns:p14="http://schemas.microsoft.com/office/powerpoint/2010/main" val="1006526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25010 Quality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v1 in 2011, v2 in 2017</a:t>
            </a:r>
          </a:p>
          <a:p>
            <a:r>
              <a:rPr lang="en-US" dirty="0"/>
              <a:t>Quality in Use</a:t>
            </a:r>
          </a:p>
          <a:p>
            <a:pPr lvl="1"/>
            <a:r>
              <a:rPr lang="en-US" dirty="0"/>
              <a:t>Characteristics appropriate when using software in a particular context</a:t>
            </a:r>
          </a:p>
          <a:p>
            <a:r>
              <a:rPr lang="en-US" dirty="0"/>
              <a:t>Product Quality</a:t>
            </a:r>
          </a:p>
          <a:p>
            <a:pPr lvl="1"/>
            <a:r>
              <a:rPr lang="en-US" dirty="0"/>
              <a:t>Characteristics focusing on static and dynamic nature of the software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033" y="6127234"/>
            <a:ext cx="4729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See Chapter 15 of 9</a:t>
            </a:r>
            <a:r>
              <a:rPr lang="en-US" baseline="30000" dirty="0"/>
              <a:t>th</a:t>
            </a:r>
            <a:r>
              <a:rPr lang="en-US" dirty="0"/>
              <a:t> Edition of Pressman’s Book</a:t>
            </a:r>
          </a:p>
        </p:txBody>
      </p:sp>
    </p:spTree>
    <p:extLst>
      <p:ext uri="{BB962C8B-B14F-4D97-AF65-F5344CB8AC3E}">
        <p14:creationId xmlns:p14="http://schemas.microsoft.com/office/powerpoint/2010/main" val="3428896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CD9D0-05C6-5E0A-AC6B-44406012A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D1C82-A926-15AA-B805-8ADFB26A8B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Application Domains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82BFC-43AA-9335-1388-24D8597E2A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59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Application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266" y="1946561"/>
            <a:ext cx="9453093" cy="4267200"/>
          </a:xfrm>
        </p:spPr>
        <p:txBody>
          <a:bodyPr>
            <a:noAutofit/>
          </a:bodyPr>
          <a:lstStyle/>
          <a:p>
            <a:r>
              <a:rPr lang="en-US" dirty="0"/>
              <a:t>Broad categories of software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System software: programs written to service other programs e.g. compiler, editor, operating system components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Application software: stand-alone programs to solve a specific business need e.g. </a:t>
            </a:r>
            <a:r>
              <a:rPr lang="en-US" u="sng" dirty="0"/>
              <a:t>Information systems</a:t>
            </a:r>
            <a:r>
              <a:rPr lang="en-US" dirty="0"/>
              <a:t> like leave management system, point of sales system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Engineering/Scientific software: programs that can simulate things like astronomy, volcanology, molecular biology etc.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Real-time Systems: must respond to events within a predefined and strict period of time. Quantitatively specifiable and verifiable notion of response time. Response time as correctness?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978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Application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656" y="1946564"/>
            <a:ext cx="8991600" cy="4419600"/>
          </a:xfrm>
        </p:spPr>
        <p:txBody>
          <a:bodyPr>
            <a:noAutofit/>
          </a:bodyPr>
          <a:lstStyle/>
          <a:p>
            <a:r>
              <a:rPr lang="en-US" dirty="0"/>
              <a:t>Broad categories of software (Contd.)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Embedded systems: resides within a product or system and performs special functions for user as well as for itself e.g. system to measure temperature in a control shed, keypad control in a microwave oven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Product-line software: software for a group of related products marketed under a single brand name e.g. MS Office has MS Word, PowerPoint, Excel etc.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Web/Mobile applications: browser based and mobile device-based apps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Artificial intelligence software: makes use of heuristics-based algorithms to solve complex problems e.g. robotics software, expert systems to diagnose a disease, forecasting system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81890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Legacy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Old systems</a:t>
            </a:r>
          </a:p>
          <a:p>
            <a:pPr lvl="1"/>
            <a:r>
              <a:rPr lang="en-US" dirty="0"/>
              <a:t>Continually modified to meet changes (requirements, platforms)</a:t>
            </a:r>
          </a:p>
          <a:p>
            <a:pPr lvl="1"/>
            <a:r>
              <a:rPr lang="en-US" dirty="0"/>
              <a:t>Difficult and costly to change further</a:t>
            </a:r>
          </a:p>
          <a:p>
            <a:pPr lvl="2"/>
            <a:r>
              <a:rPr lang="en-US" dirty="0"/>
              <a:t>Inextensible designs</a:t>
            </a:r>
          </a:p>
          <a:p>
            <a:pPr lvl="2"/>
            <a:r>
              <a:rPr lang="en-US" dirty="0"/>
              <a:t>Convoluted code</a:t>
            </a:r>
          </a:p>
          <a:p>
            <a:pPr lvl="2"/>
            <a:r>
              <a:rPr lang="en-US" dirty="0"/>
              <a:t>Poor or nonexistent documentation</a:t>
            </a:r>
          </a:p>
          <a:p>
            <a:pPr lvl="2"/>
            <a:r>
              <a:rPr lang="en-US" dirty="0"/>
              <a:t>Unarchived results of test cases</a:t>
            </a:r>
          </a:p>
          <a:p>
            <a:pPr lvl="2"/>
            <a:r>
              <a:rPr lang="en-US" dirty="0"/>
              <a:t>Poorly managed change history</a:t>
            </a:r>
          </a:p>
          <a:p>
            <a:pPr lvl="1"/>
            <a:r>
              <a:rPr lang="en-US" dirty="0"/>
              <a:t>Risky to evolve</a:t>
            </a:r>
          </a:p>
          <a:p>
            <a:pPr lvl="2"/>
            <a:r>
              <a:rPr lang="en-US" dirty="0"/>
              <a:t>Perform core functions</a:t>
            </a:r>
          </a:p>
          <a:p>
            <a:pPr lvl="2"/>
            <a:r>
              <a:rPr lang="en-US" dirty="0"/>
              <a:t>Indispensable to business</a:t>
            </a:r>
          </a:p>
        </p:txBody>
      </p:sp>
    </p:spTree>
    <p:extLst>
      <p:ext uri="{BB962C8B-B14F-4D97-AF65-F5344CB8AC3E}">
        <p14:creationId xmlns:p14="http://schemas.microsoft.com/office/powerpoint/2010/main" val="2189193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Application Domains and Quality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7990253"/>
              </p:ext>
            </p:extLst>
          </p:nvPr>
        </p:nvGraphicFramePr>
        <p:xfrm>
          <a:off x="838200" y="1437354"/>
          <a:ext cx="10515600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9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9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Most Relevant Quality Characteristics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Information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oriented. Storage and retrieval of data. E.g. banking systems, library systems, HRM</a:t>
                      </a:r>
                      <a:r>
                        <a:rPr lang="en-US" baseline="0" dirty="0"/>
                        <a:t> systems etc.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integrity, Security, Data availability,</a:t>
                      </a:r>
                      <a:r>
                        <a:rPr lang="en-US" baseline="0" dirty="0"/>
                        <a:t> Transaction performance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Real-time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Control/Event oriented. Respond to events in predefined and strict period of time. Sensors</a:t>
                      </a:r>
                      <a:r>
                        <a:rPr lang="en-US" baseline="0" dirty="0"/>
                        <a:t> based. E.g. flight control software, automatic fault detection in a factory environment, surveillance systems etc.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Correctness (response time), Reliability,</a:t>
                      </a:r>
                      <a:r>
                        <a:rPr lang="en-US" baseline="0" dirty="0"/>
                        <a:t> Safety (-</a:t>
                      </a:r>
                      <a:r>
                        <a:rPr lang="en-US" baseline="0" dirty="0" err="1"/>
                        <a:t>ve</a:t>
                      </a:r>
                      <a:r>
                        <a:rPr lang="en-US" baseline="0" dirty="0"/>
                        <a:t> requirements)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Distributed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Computers connected through a communication network. E.g. distributed file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Portability, Interoperability,</a:t>
                      </a:r>
                      <a:r>
                        <a:rPr lang="en-US" baseline="0" dirty="0"/>
                        <a:t> Performance, Reliability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Embedded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 specific. Software interfaces with other system components. E.g. software inside ovens, dishwashers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Efficiency, Robustness,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408349" y="6014434"/>
            <a:ext cx="8139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Quality characteristics related to human-computer aspects are relevant in all cases</a:t>
            </a:r>
          </a:p>
        </p:txBody>
      </p:sp>
    </p:spTree>
    <p:extLst>
      <p:ext uri="{BB962C8B-B14F-4D97-AF65-F5344CB8AC3E}">
        <p14:creationId xmlns:p14="http://schemas.microsoft.com/office/powerpoint/2010/main" val="522687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3956"/>
            <a:ext cx="10515600" cy="4351338"/>
          </a:xfrm>
        </p:spPr>
        <p:txBody>
          <a:bodyPr/>
          <a:lstStyle/>
          <a:p>
            <a:r>
              <a:rPr lang="en-US" dirty="0"/>
              <a:t>List the relevant quality aspects:</a:t>
            </a:r>
          </a:p>
          <a:p>
            <a:r>
              <a:rPr lang="en-US" dirty="0"/>
              <a:t>You have n unique non-negative integers stored in an array. You need to sort these elements in ascending order. </a:t>
            </a:r>
          </a:p>
          <a:p>
            <a:pPr lvl="1"/>
            <a:r>
              <a:rPr lang="en-US" dirty="0"/>
              <a:t>Is correctness relevant? How to measure its correctness?</a:t>
            </a:r>
          </a:p>
          <a:p>
            <a:pPr lvl="1"/>
            <a:r>
              <a:rPr lang="en-US" dirty="0"/>
              <a:t>Is efficiency relevant? How to measure its efficiency?</a:t>
            </a:r>
          </a:p>
          <a:p>
            <a:pPr lvl="1"/>
            <a:r>
              <a:rPr lang="en-US" dirty="0"/>
              <a:t>Is robustness relevant? How to measure robustness?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54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3956"/>
            <a:ext cx="10515600" cy="4351338"/>
          </a:xfrm>
        </p:spPr>
        <p:txBody>
          <a:bodyPr/>
          <a:lstStyle/>
          <a:p>
            <a:r>
              <a:rPr lang="en-US" dirty="0"/>
              <a:t>List the relevant quality aspects:</a:t>
            </a:r>
          </a:p>
          <a:p>
            <a:r>
              <a:rPr lang="en-US" dirty="0"/>
              <a:t>Recall the farmers and gardens problem. </a:t>
            </a:r>
          </a:p>
          <a:p>
            <a:pPr lvl="1"/>
            <a:r>
              <a:rPr lang="en-US" dirty="0"/>
              <a:t>Is correctness relevant? How to measure its correctness?</a:t>
            </a:r>
          </a:p>
          <a:p>
            <a:pPr lvl="1"/>
            <a:r>
              <a:rPr lang="en-US" dirty="0"/>
              <a:t>Is efficiency relevant? How to measure its efficiency?</a:t>
            </a:r>
          </a:p>
          <a:p>
            <a:pPr lvl="1"/>
            <a:r>
              <a:rPr lang="en-US" dirty="0"/>
              <a:t>Is robustness relevant? How to measure robustness?</a:t>
            </a:r>
          </a:p>
          <a:p>
            <a:pPr lvl="1"/>
            <a:r>
              <a:rPr lang="en-US" dirty="0"/>
              <a:t>Is usability relevant? How to measure usability?</a:t>
            </a:r>
          </a:p>
          <a:p>
            <a:pPr lvl="1"/>
            <a:r>
              <a:rPr lang="en-US" dirty="0"/>
              <a:t>Is maintainability (</a:t>
            </a:r>
            <a:r>
              <a:rPr lang="en-US" dirty="0" err="1"/>
              <a:t>evolvability</a:t>
            </a:r>
            <a:r>
              <a:rPr lang="en-US" dirty="0"/>
              <a:t>) relevant? How to measure </a:t>
            </a:r>
            <a:r>
              <a:rPr lang="en-US" dirty="0" err="1"/>
              <a:t>evolvability</a:t>
            </a:r>
            <a:r>
              <a:rPr lang="en-US" dirty="0"/>
              <a:t>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09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3956"/>
            <a:ext cx="10515600" cy="4351338"/>
          </a:xfrm>
        </p:spPr>
        <p:txBody>
          <a:bodyPr/>
          <a:lstStyle/>
          <a:p>
            <a:r>
              <a:rPr lang="en-US" dirty="0"/>
              <a:t>List the relevant quality aspects:</a:t>
            </a:r>
          </a:p>
          <a:p>
            <a:r>
              <a:rPr lang="en-US" dirty="0"/>
              <a:t>Consider a POS system for a small grocery store? </a:t>
            </a:r>
          </a:p>
          <a:p>
            <a:pPr lvl="1"/>
            <a:r>
              <a:rPr lang="en-US" dirty="0"/>
              <a:t>Is correctness relevant? How to measure its correctness?</a:t>
            </a:r>
          </a:p>
          <a:p>
            <a:pPr lvl="1"/>
            <a:r>
              <a:rPr lang="en-US" dirty="0"/>
              <a:t>Is efficiency relevant? How to measure its efficiency?</a:t>
            </a:r>
          </a:p>
          <a:p>
            <a:pPr lvl="1"/>
            <a:r>
              <a:rPr lang="en-US" dirty="0"/>
              <a:t>Is robustness relevant? How to measure robustness?</a:t>
            </a:r>
          </a:p>
          <a:p>
            <a:pPr lvl="1"/>
            <a:r>
              <a:rPr lang="en-US" dirty="0"/>
              <a:t>Is usability relevant? How to measure usability?</a:t>
            </a:r>
          </a:p>
          <a:p>
            <a:pPr lvl="1"/>
            <a:r>
              <a:rPr lang="en-US" dirty="0"/>
              <a:t>Is maintainability (</a:t>
            </a:r>
            <a:r>
              <a:rPr lang="en-US" dirty="0" err="1"/>
              <a:t>evolvability</a:t>
            </a:r>
            <a:r>
              <a:rPr lang="en-US" dirty="0"/>
              <a:t>) relevant? How to measure </a:t>
            </a:r>
            <a:r>
              <a:rPr lang="en-US" dirty="0" err="1"/>
              <a:t>evolvability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Is performance relevant? How to measure performance?</a:t>
            </a:r>
          </a:p>
          <a:p>
            <a:pPr lvl="1"/>
            <a:r>
              <a:rPr lang="en-US" dirty="0"/>
              <a:t>Is reliability relevant? How to measure reliability?</a:t>
            </a:r>
          </a:p>
          <a:p>
            <a:pPr lvl="1"/>
            <a:r>
              <a:rPr lang="en-US" dirty="0"/>
              <a:t>Is verifiability relevant? How to measure verifiability?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64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Engineering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Framework and </a:t>
            </a:r>
            <a:r>
              <a:rPr lang="en-US"/>
              <a:t>Umbrella Activities</a:t>
            </a:r>
          </a:p>
        </p:txBody>
      </p:sp>
    </p:spTree>
    <p:extLst>
      <p:ext uri="{BB962C8B-B14F-4D97-AF65-F5344CB8AC3E}">
        <p14:creationId xmlns:p14="http://schemas.microsoft.com/office/powerpoint/2010/main" val="2619493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Is a series of steps involving activities, constraints, and resources to produce an intended output</a:t>
            </a:r>
          </a:p>
          <a:p>
            <a:pPr lvl="1"/>
            <a:r>
              <a:rPr lang="en-GB" dirty="0"/>
              <a:t>Prepare for exams</a:t>
            </a:r>
          </a:p>
          <a:p>
            <a:pPr lvl="1"/>
            <a:r>
              <a:rPr lang="en-GB" dirty="0"/>
              <a:t>Conduct a software competition</a:t>
            </a:r>
          </a:p>
          <a:p>
            <a:pPr lvl="1"/>
            <a:r>
              <a:rPr lang="en-GB" dirty="0"/>
              <a:t>Organize a trip</a:t>
            </a:r>
          </a:p>
          <a:p>
            <a:pPr lvl="1"/>
            <a:r>
              <a:rPr lang="en-GB" dirty="0"/>
              <a:t>Write a term project report </a:t>
            </a:r>
          </a:p>
          <a:p>
            <a:r>
              <a:rPr lang="en-GB" dirty="0"/>
              <a:t>Involves a set of tools and techniques</a:t>
            </a:r>
          </a:p>
          <a:p>
            <a:pPr lvl="1"/>
            <a:r>
              <a:rPr lang="en-GB" dirty="0"/>
              <a:t>Block diagrams</a:t>
            </a:r>
          </a:p>
          <a:p>
            <a:pPr lvl="1"/>
            <a:r>
              <a:rPr lang="en-GB" dirty="0"/>
              <a:t>Notations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933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a process Useful?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Impose consistency and structure on a set of activities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Guide us to understand, control, examine, and improve the activities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Enable us to capture our experiences and pass them along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08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Communication</a:t>
            </a:r>
          </a:p>
          <a:p>
            <a:pPr lvl="1"/>
            <a:r>
              <a:rPr lang="en-US" dirty="0"/>
              <a:t>customer, other stakeholders</a:t>
            </a:r>
          </a:p>
          <a:p>
            <a:r>
              <a:rPr lang="en-US" dirty="0"/>
              <a:t>Planning</a:t>
            </a:r>
          </a:p>
          <a:p>
            <a:pPr lvl="1"/>
            <a:r>
              <a:rPr lang="en-US" dirty="0"/>
              <a:t>Roadmap, project plan</a:t>
            </a:r>
          </a:p>
          <a:p>
            <a:r>
              <a:rPr lang="en-US" dirty="0"/>
              <a:t>Modeling</a:t>
            </a:r>
          </a:p>
          <a:p>
            <a:pPr lvl="1"/>
            <a:r>
              <a:rPr lang="en-US" dirty="0"/>
              <a:t>Understanding requirements, provide design</a:t>
            </a:r>
          </a:p>
          <a:p>
            <a:r>
              <a:rPr lang="en-US" dirty="0"/>
              <a:t>Construction</a:t>
            </a:r>
          </a:p>
          <a:p>
            <a:pPr lvl="1"/>
            <a:r>
              <a:rPr lang="en-US" dirty="0"/>
              <a:t>Code generation, testing</a:t>
            </a:r>
          </a:p>
          <a:p>
            <a:r>
              <a:rPr lang="en-US" dirty="0"/>
              <a:t>Deployment</a:t>
            </a:r>
          </a:p>
          <a:p>
            <a:pPr lvl="1"/>
            <a:r>
              <a:rPr lang="en-US" dirty="0"/>
              <a:t>Delivery to customer, feedback and evaluation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673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14" y="1890183"/>
            <a:ext cx="847725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19" y="2839956"/>
            <a:ext cx="8515350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150" y="4080085"/>
            <a:ext cx="6153150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30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58236" y="685800"/>
            <a:ext cx="6781800" cy="477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82058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Lifecycle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657224" y="1816458"/>
            <a:ext cx="8229600" cy="3886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When a process involves building a software (product), the process may be referred to as software (product) lifecycle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Requirements analysis and definition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System (architecture) design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Program (detailed/procedural) design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Writing programs (coding/implementation)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Testing: unit, integration, system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System delivery (deployment)</a:t>
            </a:r>
          </a:p>
          <a:p>
            <a:pPr lvl="1"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Maintenance </a:t>
            </a: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1038224" y="4983051"/>
            <a:ext cx="74676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87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Umbrella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Software Quality Assurance</a:t>
            </a:r>
          </a:p>
          <a:p>
            <a:r>
              <a:rPr lang="en-US" sz="2800" dirty="0">
                <a:solidFill>
                  <a:schemeClr val="tx1"/>
                </a:solidFill>
              </a:rPr>
              <a:t>Configuration Management</a:t>
            </a:r>
          </a:p>
          <a:p>
            <a:r>
              <a:rPr lang="en-US" sz="2800" dirty="0">
                <a:solidFill>
                  <a:schemeClr val="tx1"/>
                </a:solidFill>
              </a:rPr>
              <a:t>Technical Reviews</a:t>
            </a:r>
          </a:p>
          <a:p>
            <a:r>
              <a:rPr lang="en-US" sz="2800" dirty="0">
                <a:solidFill>
                  <a:schemeClr val="tx1"/>
                </a:solidFill>
              </a:rPr>
              <a:t>Project Tracking and Control</a:t>
            </a:r>
          </a:p>
          <a:p>
            <a:r>
              <a:rPr lang="en-US" sz="2800" dirty="0">
                <a:solidFill>
                  <a:schemeClr val="tx1"/>
                </a:solidFill>
              </a:rPr>
              <a:t>Risk Management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6043611" y="1621826"/>
            <a:ext cx="5844342" cy="3480036"/>
            <a:chOff x="5393899" y="205150"/>
            <a:chExt cx="5844342" cy="3480036"/>
          </a:xfrm>
        </p:grpSpPr>
        <p:sp>
          <p:nvSpPr>
            <p:cNvPr id="5" name="Oval 4"/>
            <p:cNvSpPr/>
            <p:nvPr/>
          </p:nvSpPr>
          <p:spPr>
            <a:xfrm>
              <a:off x="7478861" y="2253928"/>
              <a:ext cx="1477108" cy="143125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 Process</a:t>
              </a:r>
            </a:p>
          </p:txBody>
        </p:sp>
        <p:sp>
          <p:nvSpPr>
            <p:cNvPr id="6" name="Isosceles Triangle 5"/>
            <p:cNvSpPr/>
            <p:nvPr/>
          </p:nvSpPr>
          <p:spPr>
            <a:xfrm rot="3284220">
              <a:off x="10084690" y="2240702"/>
              <a:ext cx="1477108" cy="829994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RM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 rot="2579787">
              <a:off x="9026368" y="983369"/>
              <a:ext cx="1477108" cy="829994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PTC</a:t>
              </a:r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7464630" y="205150"/>
              <a:ext cx="1477108" cy="829994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rot="18696774">
              <a:off x="5953796" y="1025213"/>
              <a:ext cx="1477108" cy="829994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CM</a:t>
              </a:r>
            </a:p>
          </p:txBody>
        </p:sp>
        <p:sp>
          <p:nvSpPr>
            <p:cNvPr id="10" name="Isosceles Triangle 9"/>
            <p:cNvSpPr/>
            <p:nvPr/>
          </p:nvSpPr>
          <p:spPr>
            <a:xfrm rot="17831836">
              <a:off x="5070342" y="2389344"/>
              <a:ext cx="1477108" cy="829994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SQA</a:t>
              </a:r>
            </a:p>
          </p:txBody>
        </p:sp>
        <p:cxnSp>
          <p:nvCxnSpPr>
            <p:cNvPr id="12" name="Straight Arrow Connector 11"/>
            <p:cNvCxnSpPr>
              <a:stCxn id="8" idx="3"/>
              <a:endCxn id="5" idx="0"/>
            </p:cNvCxnSpPr>
            <p:nvPr/>
          </p:nvCxnSpPr>
          <p:spPr>
            <a:xfrm>
              <a:off x="8203184" y="1035144"/>
              <a:ext cx="14231" cy="1218784"/>
            </a:xfrm>
            <a:prstGeom prst="straightConnector1">
              <a:avLst/>
            </a:prstGeom>
            <a:ln w="31750">
              <a:solidFill>
                <a:schemeClr val="accent1">
                  <a:alpha val="8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H="1">
              <a:off x="8847531" y="1597226"/>
              <a:ext cx="463484" cy="702948"/>
            </a:xfrm>
            <a:prstGeom prst="straightConnector1">
              <a:avLst/>
            </a:prstGeom>
            <a:ln w="31750">
              <a:solidFill>
                <a:schemeClr val="accent1">
                  <a:alpha val="8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9133492" y="2686203"/>
              <a:ext cx="1102035" cy="283354"/>
            </a:xfrm>
            <a:prstGeom prst="straightConnector1">
              <a:avLst/>
            </a:prstGeom>
            <a:ln w="31750">
              <a:solidFill>
                <a:schemeClr val="accent1">
                  <a:alpha val="8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9" idx="3"/>
            </p:cNvCxnSpPr>
            <p:nvPr/>
          </p:nvCxnSpPr>
          <p:spPr>
            <a:xfrm>
              <a:off x="7002622" y="1715807"/>
              <a:ext cx="679927" cy="682697"/>
            </a:xfrm>
            <a:prstGeom prst="straightConnector1">
              <a:avLst/>
            </a:prstGeom>
            <a:ln w="31750">
              <a:solidFill>
                <a:schemeClr val="accent1">
                  <a:alpha val="8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endCxn id="5" idx="2"/>
            </p:cNvCxnSpPr>
            <p:nvPr/>
          </p:nvCxnSpPr>
          <p:spPr>
            <a:xfrm>
              <a:off x="6374772" y="2860510"/>
              <a:ext cx="1104089" cy="109047"/>
            </a:xfrm>
            <a:prstGeom prst="straightConnector1">
              <a:avLst/>
            </a:prstGeom>
            <a:ln w="31750">
              <a:solidFill>
                <a:schemeClr val="accent1">
                  <a:alpha val="8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322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Understand the problem</a:t>
            </a:r>
          </a:p>
          <a:p>
            <a:r>
              <a:rPr lang="en-US" sz="3200" dirty="0">
                <a:solidFill>
                  <a:schemeClr val="tx1"/>
                </a:solidFill>
              </a:rPr>
              <a:t>Plan a solution</a:t>
            </a:r>
          </a:p>
          <a:p>
            <a:r>
              <a:rPr lang="en-US" sz="3200" dirty="0">
                <a:solidFill>
                  <a:schemeClr val="tx1"/>
                </a:solidFill>
              </a:rPr>
              <a:t>Carry out the plan</a:t>
            </a:r>
          </a:p>
          <a:p>
            <a:r>
              <a:rPr lang="en-US" sz="3200" dirty="0">
                <a:solidFill>
                  <a:schemeClr val="tx1"/>
                </a:solidFill>
              </a:rPr>
              <a:t>Examine the results for accuracy</a:t>
            </a:r>
          </a:p>
        </p:txBody>
      </p:sp>
    </p:spTree>
    <p:extLst>
      <p:ext uri="{BB962C8B-B14F-4D97-AF65-F5344CB8AC3E}">
        <p14:creationId xmlns:p14="http://schemas.microsoft.com/office/powerpoint/2010/main" val="2367276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4" y="2295660"/>
            <a:ext cx="9446759" cy="361526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Understand the problem (communication, analysis)</a:t>
            </a:r>
          </a:p>
          <a:p>
            <a:r>
              <a:rPr lang="en-US" sz="2800" dirty="0">
                <a:solidFill>
                  <a:schemeClr val="tx1"/>
                </a:solidFill>
              </a:rPr>
              <a:t>Plan a solution (modeling and design)</a:t>
            </a:r>
          </a:p>
          <a:p>
            <a:r>
              <a:rPr lang="en-US" sz="2800" dirty="0">
                <a:solidFill>
                  <a:schemeClr val="tx1"/>
                </a:solidFill>
              </a:rPr>
              <a:t>Carry out the plan (code generation)</a:t>
            </a:r>
          </a:p>
          <a:p>
            <a:r>
              <a:rPr lang="en-US" sz="2800" dirty="0">
                <a:solidFill>
                  <a:schemeClr val="tx1"/>
                </a:solidFill>
              </a:rPr>
              <a:t>Examine the results for accuracy (testing and QA)</a:t>
            </a:r>
          </a:p>
        </p:txBody>
      </p:sp>
    </p:spTree>
    <p:extLst>
      <p:ext uri="{BB962C8B-B14F-4D97-AF65-F5344CB8AC3E}">
        <p14:creationId xmlns:p14="http://schemas.microsoft.com/office/powerpoint/2010/main" val="307495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9268</TotalTime>
  <Words>1277</Words>
  <Application>Microsoft Office PowerPoint</Application>
  <PresentationFormat>Widescreen</PresentationFormat>
  <Paragraphs>191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Lucida Sans Unicode</vt:lpstr>
      <vt:lpstr>Office Theme</vt:lpstr>
      <vt:lpstr>Qualities of Software</vt:lpstr>
      <vt:lpstr>Quality Aspects (Contd.)</vt:lpstr>
      <vt:lpstr>Example of Control Structures and Understandability</vt:lpstr>
      <vt:lpstr>Quality Aspects (Contd.)</vt:lpstr>
      <vt:lpstr>Quality Models</vt:lpstr>
      <vt:lpstr>McCall’s Quality Model</vt:lpstr>
      <vt:lpstr>FURPS by HP</vt:lpstr>
      <vt:lpstr>ISO 25010 Quality Model</vt:lpstr>
      <vt:lpstr>Software Application Domains</vt:lpstr>
      <vt:lpstr>Software Application Domains</vt:lpstr>
      <vt:lpstr>Software Application Domains</vt:lpstr>
      <vt:lpstr>Legacy Software</vt:lpstr>
      <vt:lpstr>Software Application Domains and Quality</vt:lpstr>
      <vt:lpstr>Class Activity</vt:lpstr>
      <vt:lpstr>Class Activity</vt:lpstr>
      <vt:lpstr>Class Activity</vt:lpstr>
      <vt:lpstr>Software Engineering Process</vt:lpstr>
      <vt:lpstr>Process</vt:lpstr>
      <vt:lpstr>Is a process Useful?</vt:lpstr>
      <vt:lpstr>Framework Activities</vt:lpstr>
      <vt:lpstr>Process Flow</vt:lpstr>
      <vt:lpstr>Waterfall</vt:lpstr>
      <vt:lpstr>Software Lifecycle</vt:lpstr>
      <vt:lpstr>Umbrella Activities</vt:lpstr>
      <vt:lpstr>Software Engineering Practice</vt:lpstr>
      <vt:lpstr>Software Engineering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Qualities of Software</dc:title>
  <dc:creator>Zeeshan Ali Rana</dc:creator>
  <cp:lastModifiedBy>Zeeshan</cp:lastModifiedBy>
  <cp:revision>46</cp:revision>
  <dcterms:created xsi:type="dcterms:W3CDTF">2021-04-06T04:08:59Z</dcterms:created>
  <dcterms:modified xsi:type="dcterms:W3CDTF">2026-09-04T12:05:07Z</dcterms:modified>
</cp:coreProperties>
</file>