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0" r:id="rId3"/>
    <p:sldId id="287" r:id="rId4"/>
    <p:sldId id="264" r:id="rId5"/>
    <p:sldId id="265" r:id="rId6"/>
    <p:sldId id="266" r:id="rId7"/>
    <p:sldId id="267" r:id="rId8"/>
    <p:sldId id="276" r:id="rId9"/>
    <p:sldId id="269" r:id="rId10"/>
    <p:sldId id="270" r:id="rId11"/>
    <p:sldId id="271" r:id="rId12"/>
    <p:sldId id="272" r:id="rId13"/>
    <p:sldId id="273" r:id="rId14"/>
    <p:sldId id="274"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67" d="100"/>
          <a:sy n="67" d="100"/>
        </p:scale>
        <p:origin x="7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B0E5BD-5CE9-4983-9546-9582311263FC}"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7CDFF1-75E5-409D-A61B-6FB351E2E14D}" type="slidenum">
              <a:rPr lang="en-US" smtClean="0"/>
              <a:t>‹#›</a:t>
            </a:fld>
            <a:endParaRPr lang="en-US"/>
          </a:p>
        </p:txBody>
      </p:sp>
    </p:spTree>
    <p:extLst>
      <p:ext uri="{BB962C8B-B14F-4D97-AF65-F5344CB8AC3E}">
        <p14:creationId xmlns:p14="http://schemas.microsoft.com/office/powerpoint/2010/main" val="1568068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F9C66C3-36B7-4421-9A79-0AC1B7C15DA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5184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9C66C3-36B7-4421-9A79-0AC1B7C15DA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3973540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9C66C3-36B7-4421-9A79-0AC1B7C15DA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1438057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F9C66C3-36B7-4421-9A79-0AC1B7C15DA6}"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3497087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F9C66C3-36B7-4421-9A79-0AC1B7C15DA6}"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3607911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F9C66C3-36B7-4421-9A79-0AC1B7C15DA6}"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2687861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9C66C3-36B7-4421-9A79-0AC1B7C15DA6}"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4042468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9C66C3-36B7-4421-9A79-0AC1B7C15DA6}"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1394960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9C66C3-36B7-4421-9A79-0AC1B7C15DA6}"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4101855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9C66C3-36B7-4421-9A79-0AC1B7C15DA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2824255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F9C66C3-36B7-4421-9A79-0AC1B7C15DA6}"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D6C8C4-CF1A-45C9-9060-1E39163B9EB1}" type="slidenum">
              <a:rPr lang="en-US" smtClean="0"/>
              <a:t>‹#›</a:t>
            </a:fld>
            <a:endParaRPr lang="en-US"/>
          </a:p>
        </p:txBody>
      </p:sp>
    </p:spTree>
    <p:extLst>
      <p:ext uri="{BB962C8B-B14F-4D97-AF65-F5344CB8AC3E}">
        <p14:creationId xmlns:p14="http://schemas.microsoft.com/office/powerpoint/2010/main" val="795772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9C66C3-36B7-4421-9A79-0AC1B7C15DA6}" type="datetimeFigureOut">
              <a:rPr lang="en-US" smtClean="0"/>
              <a:t>9/17/2026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D6C8C4-CF1A-45C9-9060-1E39163B9EB1}" type="slidenum">
              <a:rPr lang="en-US" smtClean="0"/>
              <a:t>‹#›</a:t>
            </a:fld>
            <a:endParaRPr lang="en-US"/>
          </a:p>
        </p:txBody>
      </p:sp>
    </p:spTree>
    <p:extLst>
      <p:ext uri="{BB962C8B-B14F-4D97-AF65-F5344CB8AC3E}">
        <p14:creationId xmlns:p14="http://schemas.microsoft.com/office/powerpoint/2010/main" val="4778199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educative.io/edpresso/what-are-the-different-types-of-coupli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Software Engineering Principles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607096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Anticipation of Change</a:t>
            </a:r>
          </a:p>
        </p:txBody>
      </p:sp>
      <p:sp>
        <p:nvSpPr>
          <p:cNvPr id="3" name="Content Placeholder 2"/>
          <p:cNvSpPr>
            <a:spLocks noGrp="1"/>
          </p:cNvSpPr>
          <p:nvPr>
            <p:ph idx="1"/>
          </p:nvPr>
        </p:nvSpPr>
        <p:spPr/>
        <p:txBody>
          <a:bodyPr/>
          <a:lstStyle/>
          <a:p>
            <a:r>
              <a:rPr lang="en-US" dirty="0" err="1"/>
              <a:t>Evolvability</a:t>
            </a:r>
            <a:endParaRPr lang="en-US" dirty="0"/>
          </a:p>
          <a:p>
            <a:r>
              <a:rPr lang="en-US" dirty="0"/>
              <a:t>Reusability</a:t>
            </a:r>
          </a:p>
          <a:p>
            <a:endParaRPr lang="en-US" dirty="0"/>
          </a:p>
          <a:p>
            <a:r>
              <a:rPr lang="en-US" dirty="0"/>
              <a:t>Open-Closed Principle (OCP)</a:t>
            </a:r>
          </a:p>
        </p:txBody>
      </p:sp>
      <p:sp>
        <p:nvSpPr>
          <p:cNvPr id="4" name="TextBox 3"/>
          <p:cNvSpPr txBox="1"/>
          <p:nvPr/>
        </p:nvSpPr>
        <p:spPr>
          <a:xfrm>
            <a:off x="4752305" y="6176963"/>
            <a:ext cx="4636394" cy="369332"/>
          </a:xfrm>
          <a:prstGeom prst="rect">
            <a:avLst/>
          </a:prstGeom>
          <a:noFill/>
        </p:spPr>
        <p:txBody>
          <a:bodyPr wrap="square" rtlCol="0">
            <a:spAutoFit/>
          </a:bodyPr>
          <a:lstStyle/>
          <a:p>
            <a:r>
              <a:rPr lang="en-US" dirty="0"/>
              <a:t>See Chapter 3 of </a:t>
            </a:r>
            <a:r>
              <a:rPr lang="en-US" dirty="0" err="1"/>
              <a:t>Ghezzi</a:t>
            </a:r>
            <a:r>
              <a:rPr lang="en-US" dirty="0"/>
              <a:t>, Chapter 2 of Hamlet</a:t>
            </a:r>
          </a:p>
        </p:txBody>
      </p:sp>
    </p:spTree>
    <p:extLst>
      <p:ext uri="{BB962C8B-B14F-4D97-AF65-F5344CB8AC3E}">
        <p14:creationId xmlns:p14="http://schemas.microsoft.com/office/powerpoint/2010/main" val="732897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Anticipation of Change</a:t>
            </a:r>
          </a:p>
        </p:txBody>
      </p:sp>
      <p:sp>
        <p:nvSpPr>
          <p:cNvPr id="3" name="Content Placeholder 2"/>
          <p:cNvSpPr>
            <a:spLocks noGrp="1"/>
          </p:cNvSpPr>
          <p:nvPr>
            <p:ph idx="1"/>
          </p:nvPr>
        </p:nvSpPr>
        <p:spPr/>
        <p:txBody>
          <a:bodyPr/>
          <a:lstStyle/>
          <a:p>
            <a:r>
              <a:rPr lang="en-US" dirty="0"/>
              <a:t>Open-Closed Principle</a:t>
            </a:r>
          </a:p>
        </p:txBody>
      </p:sp>
      <p:sp>
        <p:nvSpPr>
          <p:cNvPr id="4" name="TextBox 3"/>
          <p:cNvSpPr txBox="1"/>
          <p:nvPr/>
        </p:nvSpPr>
        <p:spPr>
          <a:xfrm rot="5400000">
            <a:off x="8889375" y="2697960"/>
            <a:ext cx="5822402" cy="369332"/>
          </a:xfrm>
          <a:prstGeom prst="rect">
            <a:avLst/>
          </a:prstGeom>
          <a:noFill/>
        </p:spPr>
        <p:txBody>
          <a:bodyPr wrap="square" rtlCol="0">
            <a:spAutoFit/>
          </a:bodyPr>
          <a:lstStyle/>
          <a:p>
            <a:pPr algn="ctr"/>
            <a:r>
              <a:rPr lang="en-US" dirty="0"/>
              <a:t>Without anticipation of change in mind. OCP not followed.</a:t>
            </a:r>
          </a:p>
        </p:txBody>
      </p:sp>
      <p:pic>
        <p:nvPicPr>
          <p:cNvPr id="5" name="Picture 4">
            <a:extLst>
              <a:ext uri="{FF2B5EF4-FFF2-40B4-BE49-F238E27FC236}">
                <a16:creationId xmlns:a16="http://schemas.microsoft.com/office/drawing/2014/main" id="{B105A1BA-B78D-4BD9-B40C-51BE843C547C}"/>
              </a:ext>
            </a:extLst>
          </p:cNvPr>
          <p:cNvPicPr>
            <a:picLocks noChangeAspect="1"/>
          </p:cNvPicPr>
          <p:nvPr/>
        </p:nvPicPr>
        <p:blipFill>
          <a:blip r:embed="rId2"/>
          <a:stretch>
            <a:fillRect/>
          </a:stretch>
        </p:blipFill>
        <p:spPr>
          <a:xfrm>
            <a:off x="5330755" y="271364"/>
            <a:ext cx="6344535" cy="4658375"/>
          </a:xfrm>
          <a:prstGeom prst="rect">
            <a:avLst/>
          </a:prstGeom>
        </p:spPr>
      </p:pic>
      <p:pic>
        <p:nvPicPr>
          <p:cNvPr id="6" name="Picture 5">
            <a:extLst>
              <a:ext uri="{FF2B5EF4-FFF2-40B4-BE49-F238E27FC236}">
                <a16:creationId xmlns:a16="http://schemas.microsoft.com/office/drawing/2014/main" id="{A05A2311-6CC1-42BB-A5C3-31814FB409F4}"/>
              </a:ext>
            </a:extLst>
          </p:cNvPr>
          <p:cNvPicPr>
            <a:picLocks noChangeAspect="1"/>
          </p:cNvPicPr>
          <p:nvPr/>
        </p:nvPicPr>
        <p:blipFill>
          <a:blip r:embed="rId3"/>
          <a:stretch>
            <a:fillRect/>
          </a:stretch>
        </p:blipFill>
        <p:spPr>
          <a:xfrm>
            <a:off x="107691" y="109053"/>
            <a:ext cx="6382641" cy="3629532"/>
          </a:xfrm>
          <a:prstGeom prst="rect">
            <a:avLst/>
          </a:prstGeom>
        </p:spPr>
      </p:pic>
      <p:pic>
        <p:nvPicPr>
          <p:cNvPr id="8" name="Picture 7">
            <a:extLst>
              <a:ext uri="{FF2B5EF4-FFF2-40B4-BE49-F238E27FC236}">
                <a16:creationId xmlns:a16="http://schemas.microsoft.com/office/drawing/2014/main" id="{5B22E527-90FF-439E-9AA9-023DE5E82ADC}"/>
              </a:ext>
            </a:extLst>
          </p:cNvPr>
          <p:cNvPicPr>
            <a:picLocks noChangeAspect="1"/>
          </p:cNvPicPr>
          <p:nvPr/>
        </p:nvPicPr>
        <p:blipFill>
          <a:blip r:embed="rId4"/>
          <a:stretch>
            <a:fillRect/>
          </a:stretch>
        </p:blipFill>
        <p:spPr>
          <a:xfrm>
            <a:off x="124521" y="3738585"/>
            <a:ext cx="6268325" cy="3019846"/>
          </a:xfrm>
          <a:prstGeom prst="rect">
            <a:avLst/>
          </a:prstGeom>
        </p:spPr>
      </p:pic>
      <p:pic>
        <p:nvPicPr>
          <p:cNvPr id="9" name="Picture 8">
            <a:extLst>
              <a:ext uri="{FF2B5EF4-FFF2-40B4-BE49-F238E27FC236}">
                <a16:creationId xmlns:a16="http://schemas.microsoft.com/office/drawing/2014/main" id="{7EA978D9-D84C-4704-9F03-DA47106FD80E}"/>
              </a:ext>
            </a:extLst>
          </p:cNvPr>
          <p:cNvPicPr>
            <a:picLocks noChangeAspect="1"/>
          </p:cNvPicPr>
          <p:nvPr/>
        </p:nvPicPr>
        <p:blipFill>
          <a:blip r:embed="rId5"/>
          <a:stretch>
            <a:fillRect/>
          </a:stretch>
        </p:blipFill>
        <p:spPr>
          <a:xfrm>
            <a:off x="3033285" y="1285576"/>
            <a:ext cx="6125430" cy="4286848"/>
          </a:xfrm>
          <a:prstGeom prst="rect">
            <a:avLst/>
          </a:prstGeom>
        </p:spPr>
      </p:pic>
      <p:sp>
        <p:nvSpPr>
          <p:cNvPr id="10" name="TextBox 9">
            <a:extLst>
              <a:ext uri="{FF2B5EF4-FFF2-40B4-BE49-F238E27FC236}">
                <a16:creationId xmlns:a16="http://schemas.microsoft.com/office/drawing/2014/main" id="{FE5A7D06-171B-4945-84B4-B12D4F681656}"/>
              </a:ext>
            </a:extLst>
          </p:cNvPr>
          <p:cNvSpPr txBox="1"/>
          <p:nvPr/>
        </p:nvSpPr>
        <p:spPr>
          <a:xfrm>
            <a:off x="1103117" y="6381175"/>
            <a:ext cx="5822402" cy="369332"/>
          </a:xfrm>
          <a:prstGeom prst="rect">
            <a:avLst/>
          </a:prstGeom>
          <a:noFill/>
        </p:spPr>
        <p:txBody>
          <a:bodyPr wrap="square" rtlCol="0">
            <a:spAutoFit/>
          </a:bodyPr>
          <a:lstStyle/>
          <a:p>
            <a:pPr algn="ctr"/>
            <a:r>
              <a:rPr lang="en-US" dirty="0"/>
              <a:t>With anticipation of change in mind. OCP compliant.</a:t>
            </a:r>
          </a:p>
        </p:txBody>
      </p:sp>
      <p:sp>
        <p:nvSpPr>
          <p:cNvPr id="11" name="TextBox 10">
            <a:extLst>
              <a:ext uri="{FF2B5EF4-FFF2-40B4-BE49-F238E27FC236}">
                <a16:creationId xmlns:a16="http://schemas.microsoft.com/office/drawing/2014/main" id="{07CDCB50-DB25-4248-AE89-E138C6CBC07C}"/>
              </a:ext>
            </a:extLst>
          </p:cNvPr>
          <p:cNvSpPr txBox="1"/>
          <p:nvPr/>
        </p:nvSpPr>
        <p:spPr>
          <a:xfrm>
            <a:off x="6700838" y="6333831"/>
            <a:ext cx="5284404" cy="369332"/>
          </a:xfrm>
          <a:prstGeom prst="rect">
            <a:avLst/>
          </a:prstGeom>
          <a:solidFill>
            <a:srgbClr val="FFFF00"/>
          </a:solidFill>
        </p:spPr>
        <p:txBody>
          <a:bodyPr wrap="square" rtlCol="0">
            <a:spAutoFit/>
          </a:bodyPr>
          <a:lstStyle/>
          <a:p>
            <a:pPr algn="ctr"/>
            <a:r>
              <a:rPr lang="en-US" dirty="0">
                <a:solidFill>
                  <a:srgbClr val="FF0000"/>
                </a:solidFill>
              </a:rPr>
              <a:t>Code written by Gemini, use with caution.</a:t>
            </a:r>
          </a:p>
        </p:txBody>
      </p:sp>
    </p:spTree>
    <p:extLst>
      <p:ext uri="{BB962C8B-B14F-4D97-AF65-F5344CB8AC3E}">
        <p14:creationId xmlns:p14="http://schemas.microsoft.com/office/powerpoint/2010/main" val="4015841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Generality</a:t>
            </a:r>
          </a:p>
        </p:txBody>
      </p:sp>
      <p:sp>
        <p:nvSpPr>
          <p:cNvPr id="3" name="Content Placeholder 2"/>
          <p:cNvSpPr>
            <a:spLocks noGrp="1"/>
          </p:cNvSpPr>
          <p:nvPr>
            <p:ph idx="1"/>
          </p:nvPr>
        </p:nvSpPr>
        <p:spPr/>
        <p:txBody>
          <a:bodyPr/>
          <a:lstStyle/>
          <a:p>
            <a:r>
              <a:rPr lang="en-US" sz="2400" dirty="0"/>
              <a:t>The following four procedure interfaces are listed in order of increasing generality:</a:t>
            </a:r>
          </a:p>
          <a:p>
            <a:pPr lvl="1">
              <a:buFont typeface="Lucida Sans Unicode" pitchFamily="34" charset="0"/>
              <a:buNone/>
            </a:pPr>
            <a:r>
              <a:rPr lang="en-US" sz="1600" dirty="0">
                <a:latin typeface="Courier New" pitchFamily="49" charset="0"/>
                <a:cs typeface="Courier New" pitchFamily="49" charset="0"/>
              </a:rPr>
              <a:t>PROCEDURE SUM: INTEGER;</a:t>
            </a:r>
          </a:p>
          <a:p>
            <a:pPr lvl="1">
              <a:buFont typeface="Lucida Sans Unicode" pitchFamily="34" charset="0"/>
              <a:buNone/>
            </a:pPr>
            <a:r>
              <a:rPr lang="en-US" sz="1600" dirty="0">
                <a:latin typeface="Courier New" pitchFamily="49" charset="0"/>
                <a:cs typeface="Courier New" pitchFamily="49" charset="0"/>
              </a:rPr>
              <a:t>POSTCONDITION: returns sum of 3 global variables</a:t>
            </a:r>
          </a:p>
          <a:p>
            <a:pPr lvl="1">
              <a:buFont typeface="Lucida Sans Unicode" pitchFamily="34" charset="0"/>
              <a:buNone/>
            </a:pPr>
            <a:endParaRPr lang="en-US" sz="1600" dirty="0">
              <a:latin typeface="Courier New" pitchFamily="49" charset="0"/>
              <a:cs typeface="Courier New" pitchFamily="49" charset="0"/>
            </a:endParaRPr>
          </a:p>
          <a:p>
            <a:pPr lvl="1">
              <a:buFont typeface="Lucida Sans Unicode" pitchFamily="34" charset="0"/>
              <a:buNone/>
            </a:pPr>
            <a:r>
              <a:rPr lang="en-US" sz="1600" dirty="0">
                <a:latin typeface="Courier New" pitchFamily="49" charset="0"/>
                <a:cs typeface="Courier New" pitchFamily="49" charset="0"/>
              </a:rPr>
              <a:t>PROCEDURE SUM (a, b, c: INTEGER): INTEGER;</a:t>
            </a:r>
          </a:p>
          <a:p>
            <a:pPr lvl="1">
              <a:buFont typeface="Lucida Sans Unicode" pitchFamily="34" charset="0"/>
              <a:buNone/>
            </a:pPr>
            <a:r>
              <a:rPr lang="en-US" sz="1600" dirty="0">
                <a:latin typeface="Courier New" pitchFamily="49" charset="0"/>
                <a:cs typeface="Courier New" pitchFamily="49" charset="0"/>
              </a:rPr>
              <a:t>POSTCONDITION: returns sum of parameters</a:t>
            </a:r>
          </a:p>
          <a:p>
            <a:pPr lvl="1">
              <a:buFont typeface="Lucida Sans Unicode" pitchFamily="34" charset="0"/>
              <a:buNone/>
            </a:pPr>
            <a:endParaRPr lang="en-US" sz="1600" dirty="0">
              <a:latin typeface="Courier New" pitchFamily="49" charset="0"/>
              <a:cs typeface="Courier New" pitchFamily="49" charset="0"/>
            </a:endParaRPr>
          </a:p>
          <a:p>
            <a:pPr lvl="1">
              <a:buFont typeface="Lucida Sans Unicode" pitchFamily="34" charset="0"/>
              <a:buNone/>
            </a:pPr>
            <a:r>
              <a:rPr lang="en-US" sz="1600" dirty="0">
                <a:latin typeface="Courier New" pitchFamily="49" charset="0"/>
                <a:cs typeface="Courier New" pitchFamily="49" charset="0"/>
              </a:rPr>
              <a:t>PROCEDURE SUM (a[]: INTEGER): INTEGER</a:t>
            </a:r>
          </a:p>
          <a:p>
            <a:pPr lvl="1">
              <a:buFont typeface="Lucida Sans Unicode" pitchFamily="34" charset="0"/>
              <a:buNone/>
            </a:pPr>
            <a:r>
              <a:rPr lang="en-US" sz="1600" dirty="0">
                <a:latin typeface="Courier New" pitchFamily="49" charset="0"/>
                <a:cs typeface="Courier New" pitchFamily="49" charset="0"/>
              </a:rPr>
              <a:t>POSTCONDITION: returns sum of elements in array a</a:t>
            </a:r>
          </a:p>
          <a:p>
            <a:endParaRPr lang="en-US" dirty="0"/>
          </a:p>
        </p:txBody>
      </p:sp>
      <p:sp>
        <p:nvSpPr>
          <p:cNvPr id="4" name="Rectangle 3"/>
          <p:cNvSpPr/>
          <p:nvPr/>
        </p:nvSpPr>
        <p:spPr>
          <a:xfrm>
            <a:off x="7243623" y="2529667"/>
            <a:ext cx="4736618" cy="369332"/>
          </a:xfrm>
          <a:prstGeom prst="rect">
            <a:avLst/>
          </a:prstGeom>
        </p:spPr>
        <p:txBody>
          <a:bodyPr wrap="none">
            <a:spAutoFit/>
          </a:bodyPr>
          <a:lstStyle/>
          <a:p>
            <a:pPr lvl="1"/>
            <a:r>
              <a:rPr lang="en-US" dirty="0"/>
              <a:t>Parameterizing context-specific information</a:t>
            </a:r>
          </a:p>
        </p:txBody>
      </p:sp>
      <p:sp>
        <p:nvSpPr>
          <p:cNvPr id="5" name="TextBox 4"/>
          <p:cNvSpPr txBox="1"/>
          <p:nvPr/>
        </p:nvSpPr>
        <p:spPr>
          <a:xfrm>
            <a:off x="4752305" y="6176963"/>
            <a:ext cx="4636394" cy="369332"/>
          </a:xfrm>
          <a:prstGeom prst="rect">
            <a:avLst/>
          </a:prstGeom>
          <a:noFill/>
        </p:spPr>
        <p:txBody>
          <a:bodyPr wrap="square" rtlCol="0">
            <a:spAutoFit/>
          </a:bodyPr>
          <a:lstStyle/>
          <a:p>
            <a:r>
              <a:rPr lang="en-US" dirty="0"/>
              <a:t>See Chapter 3 of </a:t>
            </a:r>
            <a:r>
              <a:rPr lang="en-US" dirty="0" err="1"/>
              <a:t>Ghezzi</a:t>
            </a:r>
            <a:endParaRPr lang="en-US" dirty="0"/>
          </a:p>
        </p:txBody>
      </p:sp>
      <p:sp>
        <p:nvSpPr>
          <p:cNvPr id="6" name="TextBox 5"/>
          <p:cNvSpPr txBox="1"/>
          <p:nvPr/>
        </p:nvSpPr>
        <p:spPr>
          <a:xfrm rot="19925360">
            <a:off x="8259074" y="4587878"/>
            <a:ext cx="2495655" cy="584775"/>
          </a:xfrm>
          <a:prstGeom prst="rect">
            <a:avLst/>
          </a:prstGeom>
          <a:solidFill>
            <a:srgbClr val="FFFF00"/>
          </a:solidFill>
        </p:spPr>
        <p:txBody>
          <a:bodyPr wrap="square" rtlCol="0">
            <a:spAutoFit/>
          </a:bodyPr>
          <a:lstStyle/>
          <a:p>
            <a:pPr algn="ctr"/>
            <a:r>
              <a:rPr lang="en-US" sz="3200" dirty="0">
                <a:solidFill>
                  <a:srgbClr val="FF0000"/>
                </a:solidFill>
              </a:rPr>
              <a:t>Trade-offs?</a:t>
            </a:r>
          </a:p>
        </p:txBody>
      </p:sp>
    </p:spTree>
    <p:extLst>
      <p:ext uri="{BB962C8B-B14F-4D97-AF65-F5344CB8AC3E}">
        <p14:creationId xmlns:p14="http://schemas.microsoft.com/office/powerpoint/2010/main" val="1992893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Incrementality</a:t>
            </a:r>
            <a:endParaRPr lang="en-US" dirty="0"/>
          </a:p>
        </p:txBody>
      </p:sp>
      <p:sp>
        <p:nvSpPr>
          <p:cNvPr id="3" name="Content Placeholder 2"/>
          <p:cNvSpPr>
            <a:spLocks noGrp="1"/>
          </p:cNvSpPr>
          <p:nvPr>
            <p:ph idx="1"/>
          </p:nvPr>
        </p:nvSpPr>
        <p:spPr/>
        <p:txBody>
          <a:bodyPr/>
          <a:lstStyle/>
          <a:p>
            <a:r>
              <a:rPr lang="en-US" dirty="0"/>
              <a:t>Increments</a:t>
            </a:r>
          </a:p>
          <a:p>
            <a:r>
              <a:rPr lang="en-US" dirty="0"/>
              <a:t>Early subsets</a:t>
            </a:r>
          </a:p>
          <a:p>
            <a:r>
              <a:rPr lang="en-US" dirty="0"/>
              <a:t>Early feedbacks</a:t>
            </a:r>
          </a:p>
          <a:p>
            <a:r>
              <a:rPr lang="en-US" dirty="0"/>
              <a:t>Prototypes</a:t>
            </a:r>
          </a:p>
        </p:txBody>
      </p:sp>
      <p:pic>
        <p:nvPicPr>
          <p:cNvPr id="4" name="Picture 2"/>
          <p:cNvPicPr>
            <a:picLocks noChangeAspect="1" noChangeArrowheads="1"/>
          </p:cNvPicPr>
          <p:nvPr/>
        </p:nvPicPr>
        <p:blipFill>
          <a:blip r:embed="rId2" cstate="print"/>
          <a:srcRect/>
          <a:stretch>
            <a:fillRect/>
          </a:stretch>
        </p:blipFill>
        <p:spPr bwMode="auto">
          <a:xfrm>
            <a:off x="4740498" y="1825625"/>
            <a:ext cx="7119938" cy="1600200"/>
          </a:xfrm>
          <a:prstGeom prst="rect">
            <a:avLst/>
          </a:prstGeom>
          <a:noFill/>
          <a:ln w="12700">
            <a:noFill/>
            <a:miter lim="800000"/>
            <a:headEnd/>
            <a:tailEnd/>
          </a:ln>
        </p:spPr>
      </p:pic>
      <p:pic>
        <p:nvPicPr>
          <p:cNvPr id="5" name="Picture 2"/>
          <p:cNvPicPr>
            <a:picLocks noChangeAspect="1" noChangeArrowheads="1"/>
          </p:cNvPicPr>
          <p:nvPr/>
        </p:nvPicPr>
        <p:blipFill>
          <a:blip r:embed="rId3" cstate="print"/>
          <a:srcRect/>
          <a:stretch>
            <a:fillRect/>
          </a:stretch>
        </p:blipFill>
        <p:spPr bwMode="auto">
          <a:xfrm>
            <a:off x="9794383" y="4500563"/>
            <a:ext cx="1231900" cy="1128713"/>
          </a:xfrm>
          <a:prstGeom prst="rect">
            <a:avLst/>
          </a:prstGeom>
          <a:noFill/>
          <a:ln w="12700">
            <a:noFill/>
            <a:miter lim="800000"/>
            <a:headEnd/>
            <a:tailEnd/>
          </a:ln>
        </p:spPr>
      </p:pic>
      <p:pic>
        <p:nvPicPr>
          <p:cNvPr id="6" name="Picture 3"/>
          <p:cNvPicPr>
            <a:picLocks noChangeAspect="1" noChangeArrowheads="1"/>
          </p:cNvPicPr>
          <p:nvPr/>
        </p:nvPicPr>
        <p:blipFill>
          <a:blip r:embed="rId4" cstate="print"/>
          <a:srcRect/>
          <a:stretch>
            <a:fillRect/>
          </a:stretch>
        </p:blipFill>
        <p:spPr bwMode="auto">
          <a:xfrm>
            <a:off x="7508383" y="4652963"/>
            <a:ext cx="1193800" cy="933450"/>
          </a:xfrm>
          <a:prstGeom prst="rect">
            <a:avLst/>
          </a:prstGeom>
          <a:noFill/>
          <a:ln w="12700">
            <a:noFill/>
            <a:miter lim="800000"/>
            <a:headEnd/>
            <a:tailEnd/>
          </a:ln>
        </p:spPr>
      </p:pic>
      <p:pic>
        <p:nvPicPr>
          <p:cNvPr id="7" name="Picture 4"/>
          <p:cNvPicPr>
            <a:picLocks noChangeAspect="1" noChangeArrowheads="1"/>
          </p:cNvPicPr>
          <p:nvPr/>
        </p:nvPicPr>
        <p:blipFill>
          <a:blip r:embed="rId5" cstate="print"/>
          <a:srcRect/>
          <a:stretch>
            <a:fillRect/>
          </a:stretch>
        </p:blipFill>
        <p:spPr bwMode="auto">
          <a:xfrm>
            <a:off x="5298583" y="4729163"/>
            <a:ext cx="1003300" cy="866775"/>
          </a:xfrm>
          <a:prstGeom prst="rect">
            <a:avLst/>
          </a:prstGeom>
          <a:noFill/>
          <a:ln w="12700">
            <a:noFill/>
            <a:miter lim="800000"/>
            <a:headEnd/>
            <a:tailEnd/>
          </a:ln>
        </p:spPr>
      </p:pic>
      <p:sp>
        <p:nvSpPr>
          <p:cNvPr id="8" name="Text Box 5"/>
          <p:cNvSpPr txBox="1">
            <a:spLocks noChangeArrowheads="1"/>
          </p:cNvSpPr>
          <p:nvPr/>
        </p:nvSpPr>
        <p:spPr bwMode="auto">
          <a:xfrm>
            <a:off x="5679583" y="5872163"/>
            <a:ext cx="401638" cy="304800"/>
          </a:xfrm>
          <a:prstGeom prst="rect">
            <a:avLst/>
          </a:prstGeom>
          <a:noFill/>
          <a:ln w="9525">
            <a:noFill/>
            <a:miter lim="800000"/>
            <a:headEnd/>
            <a:tailEnd/>
          </a:ln>
        </p:spPr>
        <p:txBody>
          <a:bodyPr wrap="none">
            <a:spAutoFit/>
          </a:bodyPr>
          <a:lstStyle/>
          <a:p>
            <a:r>
              <a:rPr lang="en-US" sz="1400"/>
              <a:t>(a)</a:t>
            </a:r>
          </a:p>
        </p:txBody>
      </p:sp>
      <p:sp>
        <p:nvSpPr>
          <p:cNvPr id="9" name="Text Box 6"/>
          <p:cNvSpPr txBox="1">
            <a:spLocks noChangeArrowheads="1"/>
          </p:cNvSpPr>
          <p:nvPr/>
        </p:nvSpPr>
        <p:spPr bwMode="auto">
          <a:xfrm>
            <a:off x="7889383" y="5872163"/>
            <a:ext cx="401638" cy="304800"/>
          </a:xfrm>
          <a:prstGeom prst="rect">
            <a:avLst/>
          </a:prstGeom>
          <a:noFill/>
          <a:ln w="9525">
            <a:noFill/>
            <a:miter lim="800000"/>
            <a:headEnd/>
            <a:tailEnd/>
          </a:ln>
        </p:spPr>
        <p:txBody>
          <a:bodyPr wrap="none">
            <a:spAutoFit/>
          </a:bodyPr>
          <a:lstStyle/>
          <a:p>
            <a:r>
              <a:rPr lang="en-US" sz="1400"/>
              <a:t>(b)</a:t>
            </a:r>
          </a:p>
        </p:txBody>
      </p:sp>
      <p:sp>
        <p:nvSpPr>
          <p:cNvPr id="10" name="Text Box 7"/>
          <p:cNvSpPr txBox="1">
            <a:spLocks noChangeArrowheads="1"/>
          </p:cNvSpPr>
          <p:nvPr/>
        </p:nvSpPr>
        <p:spPr bwMode="auto">
          <a:xfrm>
            <a:off x="10251583" y="5872163"/>
            <a:ext cx="392113" cy="304800"/>
          </a:xfrm>
          <a:prstGeom prst="rect">
            <a:avLst/>
          </a:prstGeom>
          <a:noFill/>
          <a:ln w="9525">
            <a:noFill/>
            <a:miter lim="800000"/>
            <a:headEnd/>
            <a:tailEnd/>
          </a:ln>
        </p:spPr>
        <p:txBody>
          <a:bodyPr wrap="none">
            <a:spAutoFit/>
          </a:bodyPr>
          <a:lstStyle/>
          <a:p>
            <a:r>
              <a:rPr lang="en-US" sz="1400"/>
              <a:t>(c)</a:t>
            </a:r>
          </a:p>
        </p:txBody>
      </p:sp>
      <p:sp>
        <p:nvSpPr>
          <p:cNvPr id="11" name="TextBox 10"/>
          <p:cNvSpPr txBox="1"/>
          <p:nvPr/>
        </p:nvSpPr>
        <p:spPr>
          <a:xfrm>
            <a:off x="4752305" y="6176963"/>
            <a:ext cx="4636394" cy="369332"/>
          </a:xfrm>
          <a:prstGeom prst="rect">
            <a:avLst/>
          </a:prstGeom>
          <a:noFill/>
        </p:spPr>
        <p:txBody>
          <a:bodyPr wrap="square" rtlCol="0">
            <a:spAutoFit/>
          </a:bodyPr>
          <a:lstStyle/>
          <a:p>
            <a:r>
              <a:rPr lang="en-US" dirty="0"/>
              <a:t>See Chapter 3 of </a:t>
            </a:r>
            <a:r>
              <a:rPr lang="en-US" dirty="0" err="1"/>
              <a:t>Ghezzi</a:t>
            </a:r>
            <a:endParaRPr lang="en-US" dirty="0"/>
          </a:p>
        </p:txBody>
      </p:sp>
    </p:spTree>
    <p:extLst>
      <p:ext uri="{BB962C8B-B14F-4D97-AF65-F5344CB8AC3E}">
        <p14:creationId xmlns:p14="http://schemas.microsoft.com/office/powerpoint/2010/main" val="553614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Abstraction</a:t>
            </a:r>
          </a:p>
        </p:txBody>
      </p:sp>
      <p:sp>
        <p:nvSpPr>
          <p:cNvPr id="3" name="Content Placeholder 2"/>
          <p:cNvSpPr>
            <a:spLocks noGrp="1"/>
          </p:cNvSpPr>
          <p:nvPr>
            <p:ph idx="1"/>
          </p:nvPr>
        </p:nvSpPr>
        <p:spPr/>
        <p:txBody>
          <a:bodyPr>
            <a:normAutofit fontScale="92500" lnSpcReduction="10000"/>
          </a:bodyPr>
          <a:lstStyle/>
          <a:p>
            <a:r>
              <a:rPr lang="en-US" dirty="0"/>
              <a:t>An </a:t>
            </a:r>
            <a:r>
              <a:rPr lang="en-US" b="1" dirty="0"/>
              <a:t>abstraction </a:t>
            </a:r>
            <a:r>
              <a:rPr lang="en-US" dirty="0"/>
              <a:t>is a model or representation that omits some details so that it can focus on other details </a:t>
            </a:r>
          </a:p>
          <a:p>
            <a:r>
              <a:rPr lang="en-US" sz="2400" dirty="0">
                <a:latin typeface="Calibri" pitchFamily="34" charset="0"/>
                <a:cs typeface="Arial" charset="0"/>
              </a:rPr>
              <a:t>Suppose that one of the system functions is to sort the elements of a list L. The initial description of the design is:</a:t>
            </a:r>
          </a:p>
          <a:p>
            <a:pPr lvl="1"/>
            <a:r>
              <a:rPr lang="en-US" dirty="0">
                <a:latin typeface="Calibri" pitchFamily="34" charset="0"/>
                <a:cs typeface="Courier New" pitchFamily="49" charset="0"/>
              </a:rPr>
              <a:t>Sort L in non-decreasing order</a:t>
            </a:r>
          </a:p>
          <a:p>
            <a:pPr lvl="1"/>
            <a:r>
              <a:rPr lang="en-US" dirty="0">
                <a:latin typeface="Calibri" pitchFamily="34" charset="0"/>
                <a:cs typeface="Arial" charset="0"/>
              </a:rPr>
              <a:t>The next description may be a particular algorithm:</a:t>
            </a:r>
          </a:p>
          <a:p>
            <a:pPr>
              <a:buFont typeface="Lucida Sans Unicode" pitchFamily="34" charset="0"/>
              <a:buNone/>
            </a:pPr>
            <a:r>
              <a:rPr lang="en-US" sz="2400" dirty="0">
                <a:latin typeface="Calibri" pitchFamily="34" charset="0"/>
                <a:cs typeface="Courier New" pitchFamily="49" charset="0"/>
              </a:rPr>
              <a:t>	</a:t>
            </a:r>
            <a:r>
              <a:rPr lang="en-US" sz="2000" dirty="0">
                <a:latin typeface="Courier New" pitchFamily="49" charset="0"/>
                <a:cs typeface="Courier New" pitchFamily="49" charset="0"/>
              </a:rPr>
              <a:t>DO WHILE I is between 1 and (length of L)–1:</a:t>
            </a:r>
          </a:p>
          <a:p>
            <a:pPr lvl="1">
              <a:buFont typeface="Lucida Sans Unicode" pitchFamily="34" charset="0"/>
              <a:buNone/>
            </a:pPr>
            <a:r>
              <a:rPr lang="en-US" sz="2000" dirty="0">
                <a:latin typeface="Courier New" pitchFamily="49" charset="0"/>
                <a:cs typeface="Courier New" pitchFamily="49" charset="0"/>
              </a:rPr>
              <a:t>Set LOW to index of smallest value in L(I),..., L(length of L)</a:t>
            </a:r>
          </a:p>
          <a:p>
            <a:pPr>
              <a:buFont typeface="Lucida Sans Unicode" pitchFamily="34" charset="0"/>
              <a:buNone/>
            </a:pPr>
            <a:r>
              <a:rPr lang="en-US" sz="2000" dirty="0">
                <a:latin typeface="Courier New" pitchFamily="49" charset="0"/>
                <a:cs typeface="Courier New" pitchFamily="49" charset="0"/>
              </a:rPr>
              <a:t>		Interchange L(I) and L(LOW)</a:t>
            </a:r>
          </a:p>
          <a:p>
            <a:pPr>
              <a:buFont typeface="Lucida Sans Unicode" pitchFamily="34" charset="0"/>
              <a:buNone/>
            </a:pPr>
            <a:r>
              <a:rPr lang="en-US" sz="2000" dirty="0">
                <a:latin typeface="Courier New" pitchFamily="49" charset="0"/>
                <a:cs typeface="Courier New" pitchFamily="49" charset="0"/>
              </a:rPr>
              <a:t>	ENDDO</a:t>
            </a:r>
          </a:p>
          <a:p>
            <a:r>
              <a:rPr lang="en-US" sz="2400" dirty="0">
                <a:latin typeface="Calibri" pitchFamily="34" charset="0"/>
                <a:cs typeface="Arial" charset="0"/>
              </a:rPr>
              <a:t>The algorithm provides a great deal of additional information, however, it can be made even more detailed</a:t>
            </a:r>
            <a:endParaRPr lang="en-US" sz="2400" dirty="0">
              <a:latin typeface="Calibri" pitchFamily="34" charset="0"/>
              <a:cs typeface="Courier New" pitchFamily="49" charset="0"/>
            </a:endParaRPr>
          </a:p>
          <a:p>
            <a:endParaRPr lang="en-US" dirty="0"/>
          </a:p>
        </p:txBody>
      </p:sp>
      <p:sp>
        <p:nvSpPr>
          <p:cNvPr id="4" name="TextBox 3"/>
          <p:cNvSpPr txBox="1"/>
          <p:nvPr/>
        </p:nvSpPr>
        <p:spPr>
          <a:xfrm>
            <a:off x="4752305" y="6176963"/>
            <a:ext cx="4636394" cy="369332"/>
          </a:xfrm>
          <a:prstGeom prst="rect">
            <a:avLst/>
          </a:prstGeom>
          <a:noFill/>
        </p:spPr>
        <p:txBody>
          <a:bodyPr wrap="square" rtlCol="0">
            <a:spAutoFit/>
          </a:bodyPr>
          <a:lstStyle/>
          <a:p>
            <a:r>
              <a:rPr lang="en-US" dirty="0"/>
              <a:t>See Chapter 3 of </a:t>
            </a:r>
            <a:r>
              <a:rPr lang="en-US" dirty="0" err="1"/>
              <a:t>Ghezzi</a:t>
            </a:r>
            <a:endParaRPr lang="en-US" dirty="0"/>
          </a:p>
        </p:txBody>
      </p:sp>
    </p:spTree>
    <p:extLst>
      <p:ext uri="{BB962C8B-B14F-4D97-AF65-F5344CB8AC3E}">
        <p14:creationId xmlns:p14="http://schemas.microsoft.com/office/powerpoint/2010/main" val="1780829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Abstraction</a:t>
            </a:r>
          </a:p>
        </p:txBody>
      </p:sp>
      <p:sp>
        <p:nvSpPr>
          <p:cNvPr id="3" name="Content Placeholder 2"/>
          <p:cNvSpPr>
            <a:spLocks noGrp="1"/>
          </p:cNvSpPr>
          <p:nvPr>
            <p:ph idx="1"/>
          </p:nvPr>
        </p:nvSpPr>
        <p:spPr/>
        <p:txBody>
          <a:bodyPr>
            <a:normAutofit fontScale="70000" lnSpcReduction="20000"/>
          </a:bodyPr>
          <a:lstStyle/>
          <a:p>
            <a:r>
              <a:rPr lang="en-US" sz="3200" dirty="0">
                <a:latin typeface="Calibri" pitchFamily="34" charset="0"/>
                <a:cs typeface="Arial" charset="0"/>
              </a:rPr>
              <a:t>The third and final algorithm describes exactly how the sorting operation will work:</a:t>
            </a:r>
          </a:p>
          <a:p>
            <a:pPr>
              <a:buFont typeface="Lucida Sans Unicode" pitchFamily="34" charset="0"/>
              <a:buNone/>
            </a:pPr>
            <a:r>
              <a:rPr lang="en-US" sz="3200" dirty="0">
                <a:latin typeface="Arial" charset="0"/>
                <a:cs typeface="Arial" charset="0"/>
              </a:rPr>
              <a:t>	</a:t>
            </a:r>
            <a:r>
              <a:rPr lang="en-US" dirty="0">
                <a:latin typeface="Courier New" pitchFamily="49" charset="0"/>
                <a:cs typeface="Courier New" pitchFamily="49" charset="0"/>
              </a:rPr>
              <a:t>DO WHILE I is between 1 and (length of L)-1</a:t>
            </a:r>
          </a:p>
          <a:p>
            <a:pPr>
              <a:buFont typeface="Lucida Sans Unicode" pitchFamily="34" charset="0"/>
              <a:buNone/>
            </a:pPr>
            <a:r>
              <a:rPr lang="en-US" dirty="0">
                <a:latin typeface="Courier New" pitchFamily="49" charset="0"/>
                <a:cs typeface="Courier New" pitchFamily="49" charset="0"/>
              </a:rPr>
              <a:t>		Set LOW to current value of I</a:t>
            </a:r>
          </a:p>
          <a:p>
            <a:pPr>
              <a:buFont typeface="Lucida Sans Unicode" pitchFamily="34" charset="0"/>
              <a:buNone/>
            </a:pPr>
            <a:r>
              <a:rPr lang="en-US" dirty="0">
                <a:latin typeface="Courier New" pitchFamily="49" charset="0"/>
                <a:cs typeface="Courier New" pitchFamily="49" charset="0"/>
              </a:rPr>
              <a:t>		DO WHILE J is between I+1 and (length of L)</a:t>
            </a:r>
          </a:p>
          <a:p>
            <a:pPr>
              <a:buFont typeface="Lucida Sans Unicode" pitchFamily="34" charset="0"/>
              <a:buNone/>
            </a:pPr>
            <a:r>
              <a:rPr lang="en-US" dirty="0">
                <a:latin typeface="Courier New" pitchFamily="49" charset="0"/>
                <a:cs typeface="Courier New" pitchFamily="49" charset="0"/>
              </a:rPr>
              <a:t>			IF L(LOW) is greater than L(J)</a:t>
            </a:r>
          </a:p>
          <a:p>
            <a:pPr>
              <a:buFont typeface="Lucida Sans Unicode" pitchFamily="34" charset="0"/>
              <a:buNone/>
            </a:pPr>
            <a:r>
              <a:rPr lang="en-US" dirty="0">
                <a:latin typeface="Courier New" pitchFamily="49" charset="0"/>
                <a:cs typeface="Courier New" pitchFamily="49" charset="0"/>
              </a:rPr>
              <a:t>				THEN set LOW to current value of J</a:t>
            </a:r>
          </a:p>
          <a:p>
            <a:pPr>
              <a:buFont typeface="Lucida Sans Unicode" pitchFamily="34" charset="0"/>
              <a:buNone/>
            </a:pPr>
            <a:r>
              <a:rPr lang="en-US" dirty="0">
                <a:latin typeface="Courier New" pitchFamily="49" charset="0"/>
                <a:cs typeface="Courier New" pitchFamily="49" charset="0"/>
              </a:rPr>
              <a:t>			ENDIF</a:t>
            </a:r>
          </a:p>
          <a:p>
            <a:pPr>
              <a:buFont typeface="Lucida Sans Unicode" pitchFamily="34" charset="0"/>
              <a:buNone/>
            </a:pPr>
            <a:r>
              <a:rPr lang="en-US" dirty="0">
                <a:latin typeface="Courier New" pitchFamily="49" charset="0"/>
                <a:cs typeface="Courier New" pitchFamily="49" charset="0"/>
              </a:rPr>
              <a:t>		ENDDO</a:t>
            </a:r>
          </a:p>
          <a:p>
            <a:pPr>
              <a:buFont typeface="Lucida Sans Unicode" pitchFamily="34" charset="0"/>
              <a:buNone/>
            </a:pPr>
            <a:r>
              <a:rPr lang="en-US" dirty="0">
                <a:latin typeface="Courier New" pitchFamily="49" charset="0"/>
                <a:cs typeface="Courier New" pitchFamily="49" charset="0"/>
              </a:rPr>
              <a:t>		Set TEMP to L(LOW)</a:t>
            </a:r>
          </a:p>
          <a:p>
            <a:pPr>
              <a:buFont typeface="Lucida Sans Unicode" pitchFamily="34" charset="0"/>
              <a:buNone/>
            </a:pPr>
            <a:r>
              <a:rPr lang="en-US" dirty="0">
                <a:latin typeface="Courier New" pitchFamily="49" charset="0"/>
                <a:cs typeface="Courier New" pitchFamily="49" charset="0"/>
              </a:rPr>
              <a:t>		Set L(LOW) to L(I)</a:t>
            </a:r>
          </a:p>
          <a:p>
            <a:pPr>
              <a:buFont typeface="Lucida Sans Unicode" pitchFamily="34" charset="0"/>
              <a:buNone/>
            </a:pPr>
            <a:r>
              <a:rPr lang="en-US" dirty="0">
                <a:latin typeface="Courier New" pitchFamily="49" charset="0"/>
                <a:cs typeface="Courier New" pitchFamily="49" charset="0"/>
              </a:rPr>
              <a:t>		Set L(I) to TEMP</a:t>
            </a:r>
          </a:p>
          <a:p>
            <a:pPr>
              <a:buFont typeface="Lucida Sans Unicode" pitchFamily="34" charset="0"/>
              <a:buNone/>
            </a:pPr>
            <a:r>
              <a:rPr lang="en-US" dirty="0">
                <a:latin typeface="Courier New" pitchFamily="49" charset="0"/>
                <a:cs typeface="Courier New" pitchFamily="49" charset="0"/>
              </a:rPr>
              <a:t>	ENDDO</a:t>
            </a:r>
          </a:p>
          <a:p>
            <a:endParaRPr lang="en-US" dirty="0"/>
          </a:p>
        </p:txBody>
      </p:sp>
    </p:spTree>
    <p:extLst>
      <p:ext uri="{BB962C8B-B14F-4D97-AF65-F5344CB8AC3E}">
        <p14:creationId xmlns:p14="http://schemas.microsoft.com/office/powerpoint/2010/main" val="2468504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Abstraction (Contd.)</a:t>
            </a:r>
          </a:p>
        </p:txBody>
      </p:sp>
      <p:sp>
        <p:nvSpPr>
          <p:cNvPr id="3" name="Content Placeholder 2"/>
          <p:cNvSpPr>
            <a:spLocks noGrp="1"/>
          </p:cNvSpPr>
          <p:nvPr>
            <p:ph idx="1"/>
          </p:nvPr>
        </p:nvSpPr>
        <p:spPr/>
        <p:txBody>
          <a:bodyPr/>
          <a:lstStyle/>
          <a:p>
            <a:r>
              <a:rPr lang="en-US" dirty="0"/>
              <a:t>At </a:t>
            </a:r>
            <a:r>
              <a:rPr lang="en-US"/>
              <a:t>every level</a:t>
            </a:r>
          </a:p>
        </p:txBody>
      </p:sp>
      <p:sp>
        <p:nvSpPr>
          <p:cNvPr id="4" name="Rectangle 3">
            <a:extLst>
              <a:ext uri="{FF2B5EF4-FFF2-40B4-BE49-F238E27FC236}">
                <a16:creationId xmlns:a16="http://schemas.microsoft.com/office/drawing/2014/main" id="{C452E5AF-AB5B-4714-B3FB-268127C116B1}"/>
              </a:ext>
            </a:extLst>
          </p:cNvPr>
          <p:cNvSpPr/>
          <p:nvPr/>
        </p:nvSpPr>
        <p:spPr>
          <a:xfrm>
            <a:off x="2487706" y="1242339"/>
            <a:ext cx="9507070" cy="5601533"/>
          </a:xfrm>
          <a:prstGeom prst="rect">
            <a:avLst/>
          </a:prstGeom>
          <a:solidFill>
            <a:schemeClr val="bg1"/>
          </a:solidFill>
        </p:spPr>
        <p:txBody>
          <a:bodyPr wrap="square">
            <a:spAutoFit/>
          </a:bodyPr>
          <a:lstStyle/>
          <a:p>
            <a:r>
              <a:rPr lang="en-US" dirty="0">
                <a:latin typeface="Courier New" panose="02070309020205020404" pitchFamily="49" charset="0"/>
              </a:rPr>
              <a:t>.MODEL SMALL </a:t>
            </a:r>
          </a:p>
          <a:p>
            <a:r>
              <a:rPr lang="en-US" dirty="0">
                <a:latin typeface="Courier New" panose="02070309020205020404" pitchFamily="49" charset="0"/>
              </a:rPr>
              <a:t>.STACK 100H </a:t>
            </a:r>
          </a:p>
          <a:p>
            <a:endParaRPr lang="en-US" dirty="0">
              <a:latin typeface="Courier New" panose="02070309020205020404" pitchFamily="49" charset="0"/>
            </a:endParaRPr>
          </a:p>
          <a:p>
            <a:r>
              <a:rPr lang="en-US" dirty="0">
                <a:latin typeface="Courier New" panose="02070309020205020404" pitchFamily="49" charset="0"/>
              </a:rPr>
              <a:t>.DATA </a:t>
            </a:r>
          </a:p>
          <a:p>
            <a:r>
              <a:rPr lang="en-US" sz="1600" dirty="0">
                <a:latin typeface="Courier New" panose="02070309020205020404" pitchFamily="49" charset="0"/>
              </a:rPr>
              <a:t>;Define the string variable. The '$' tells DOS where the string ends. </a:t>
            </a:r>
          </a:p>
          <a:p>
            <a:r>
              <a:rPr lang="en-US" dirty="0">
                <a:latin typeface="Courier New" panose="02070309020205020404" pitchFamily="49" charset="0"/>
              </a:rPr>
              <a:t>	MSG DB 'Hello World!$’ </a:t>
            </a:r>
          </a:p>
          <a:p>
            <a:endParaRPr lang="en-US" dirty="0">
              <a:latin typeface="Courier New" panose="02070309020205020404" pitchFamily="49" charset="0"/>
            </a:endParaRPr>
          </a:p>
          <a:p>
            <a:r>
              <a:rPr lang="en-US" dirty="0">
                <a:latin typeface="Courier New" panose="02070309020205020404" pitchFamily="49" charset="0"/>
              </a:rPr>
              <a:t>.CODE </a:t>
            </a:r>
          </a:p>
          <a:p>
            <a:r>
              <a:rPr lang="en-US" dirty="0">
                <a:latin typeface="Courier New" panose="02070309020205020404" pitchFamily="49" charset="0"/>
              </a:rPr>
              <a:t>MAIN PROC ; Initialize the Data Segment (DS) register </a:t>
            </a:r>
          </a:p>
          <a:p>
            <a:r>
              <a:rPr lang="en-US" dirty="0">
                <a:latin typeface="Courier New" panose="02070309020205020404" pitchFamily="49" charset="0"/>
              </a:rPr>
              <a:t>	MOV AX, @DATA </a:t>
            </a:r>
          </a:p>
          <a:p>
            <a:r>
              <a:rPr lang="en-US" dirty="0">
                <a:latin typeface="Courier New" panose="02070309020205020404" pitchFamily="49" charset="0"/>
              </a:rPr>
              <a:t>	MOV DS, AX </a:t>
            </a:r>
          </a:p>
          <a:p>
            <a:endParaRPr lang="en-US" dirty="0">
              <a:latin typeface="Courier New" panose="02070309020205020404" pitchFamily="49" charset="0"/>
            </a:endParaRPr>
          </a:p>
          <a:p>
            <a:r>
              <a:rPr lang="en-US" dirty="0">
                <a:latin typeface="Courier New" panose="02070309020205020404" pitchFamily="49" charset="0"/>
              </a:rPr>
              <a:t>	; Load the address of the message and display it 	</a:t>
            </a:r>
          </a:p>
          <a:p>
            <a:r>
              <a:rPr lang="en-US" dirty="0">
                <a:latin typeface="Courier New" panose="02070309020205020404" pitchFamily="49" charset="0"/>
              </a:rPr>
              <a:t>	LEA DX, MSG ; Load Effective Address of MSG into DX </a:t>
            </a:r>
          </a:p>
          <a:p>
            <a:r>
              <a:rPr lang="en-US" dirty="0">
                <a:latin typeface="Courier New" panose="02070309020205020404" pitchFamily="49" charset="0"/>
              </a:rPr>
              <a:t>	MOV AH, 09H ; DOS function 09H to display a string </a:t>
            </a:r>
          </a:p>
          <a:p>
            <a:r>
              <a:rPr lang="en-US" dirty="0">
                <a:latin typeface="Courier New" panose="02070309020205020404" pitchFamily="49" charset="0"/>
              </a:rPr>
              <a:t>	INT 21H ; Call DOS interrupt </a:t>
            </a:r>
          </a:p>
          <a:p>
            <a:r>
              <a:rPr lang="en-US" dirty="0">
                <a:latin typeface="Courier New" panose="02070309020205020404" pitchFamily="49" charset="0"/>
              </a:rPr>
              <a:t>	; Terminate the program cleanly 	</a:t>
            </a:r>
          </a:p>
          <a:p>
            <a:r>
              <a:rPr lang="en-US" dirty="0">
                <a:latin typeface="Courier New" panose="02070309020205020404" pitchFamily="49" charset="0"/>
              </a:rPr>
              <a:t>	MOV AH, 4CH </a:t>
            </a:r>
            <a:r>
              <a:rPr lang="en-US" sz="1600" dirty="0">
                <a:latin typeface="Courier New" panose="02070309020205020404" pitchFamily="49" charset="0"/>
              </a:rPr>
              <a:t>; DOS function 4CH to exit INT 21H ; Call DOS interrupt</a:t>
            </a:r>
            <a:r>
              <a:rPr lang="en-US" dirty="0">
                <a:latin typeface="Courier New" panose="02070309020205020404" pitchFamily="49" charset="0"/>
              </a:rPr>
              <a:t> </a:t>
            </a:r>
          </a:p>
          <a:p>
            <a:r>
              <a:rPr lang="en-US" dirty="0">
                <a:latin typeface="Courier New" panose="02070309020205020404" pitchFamily="49" charset="0"/>
              </a:rPr>
              <a:t>MAIN ENDP </a:t>
            </a:r>
          </a:p>
          <a:p>
            <a:r>
              <a:rPr lang="en-US" dirty="0">
                <a:latin typeface="Courier New" panose="02070309020205020404" pitchFamily="49" charset="0"/>
              </a:rPr>
              <a:t>END MAIN</a:t>
            </a:r>
            <a:endParaRPr lang="en-US" dirty="0"/>
          </a:p>
        </p:txBody>
      </p:sp>
      <p:sp>
        <p:nvSpPr>
          <p:cNvPr id="5" name="Rectangle 4">
            <a:extLst>
              <a:ext uri="{FF2B5EF4-FFF2-40B4-BE49-F238E27FC236}">
                <a16:creationId xmlns:a16="http://schemas.microsoft.com/office/drawing/2014/main" id="{69806555-9256-4CE4-BF23-23C16A79C262}"/>
              </a:ext>
            </a:extLst>
          </p:cNvPr>
          <p:cNvSpPr/>
          <p:nvPr/>
        </p:nvSpPr>
        <p:spPr>
          <a:xfrm>
            <a:off x="5578288" y="289242"/>
            <a:ext cx="6096000" cy="1477328"/>
          </a:xfrm>
          <a:prstGeom prst="rect">
            <a:avLst/>
          </a:prstGeom>
        </p:spPr>
        <p:txBody>
          <a:bodyPr>
            <a:spAutoFit/>
          </a:bodyPr>
          <a:lstStyle/>
          <a:p>
            <a:r>
              <a:rPr lang="en-US" dirty="0"/>
              <a:t>10110100 00001001 10111010 00001100 00000001 11001101 00100001 10111000 00000000 01001100 11001101 00100001 01001000 01100101 01101100 01101100 01101111 00101100 00100000 01010111 01101111 01110010 01101100 01100100 00100001 00100100</a:t>
            </a:r>
          </a:p>
        </p:txBody>
      </p:sp>
      <p:sp>
        <p:nvSpPr>
          <p:cNvPr id="6" name="TextBox 5">
            <a:extLst>
              <a:ext uri="{FF2B5EF4-FFF2-40B4-BE49-F238E27FC236}">
                <a16:creationId xmlns:a16="http://schemas.microsoft.com/office/drawing/2014/main" id="{86D5C4AC-0A64-42BA-AD48-ABE579C37B9E}"/>
              </a:ext>
            </a:extLst>
          </p:cNvPr>
          <p:cNvSpPr txBox="1"/>
          <p:nvPr/>
        </p:nvSpPr>
        <p:spPr>
          <a:xfrm>
            <a:off x="6700838" y="6333831"/>
            <a:ext cx="5284404" cy="369332"/>
          </a:xfrm>
          <a:prstGeom prst="rect">
            <a:avLst/>
          </a:prstGeom>
          <a:solidFill>
            <a:srgbClr val="FFFF00"/>
          </a:solidFill>
        </p:spPr>
        <p:txBody>
          <a:bodyPr wrap="square" rtlCol="0">
            <a:spAutoFit/>
          </a:bodyPr>
          <a:lstStyle/>
          <a:p>
            <a:pPr algn="ctr"/>
            <a:r>
              <a:rPr lang="en-US" dirty="0">
                <a:solidFill>
                  <a:srgbClr val="FF0000"/>
                </a:solidFill>
              </a:rPr>
              <a:t>Code written by LLM, use with caution.</a:t>
            </a:r>
          </a:p>
        </p:txBody>
      </p:sp>
    </p:spTree>
    <p:extLst>
      <p:ext uri="{BB962C8B-B14F-4D97-AF65-F5344CB8AC3E}">
        <p14:creationId xmlns:p14="http://schemas.microsoft.com/office/powerpoint/2010/main" val="3278945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Identification of ‘Customers’</a:t>
            </a:r>
          </a:p>
        </p:txBody>
      </p:sp>
      <p:sp>
        <p:nvSpPr>
          <p:cNvPr id="3" name="Content Placeholder 2"/>
          <p:cNvSpPr>
            <a:spLocks noGrp="1"/>
          </p:cNvSpPr>
          <p:nvPr>
            <p:ph idx="1"/>
          </p:nvPr>
        </p:nvSpPr>
        <p:spPr/>
        <p:txBody>
          <a:bodyPr/>
          <a:lstStyle/>
          <a:p>
            <a:r>
              <a:rPr lang="en-US" dirty="0"/>
              <a:t>Customer of the software</a:t>
            </a:r>
          </a:p>
          <a:p>
            <a:r>
              <a:rPr lang="en-US" dirty="0"/>
              <a:t>A programmer is a customer of designer</a:t>
            </a:r>
          </a:p>
          <a:p>
            <a:r>
              <a:rPr lang="en-US" dirty="0"/>
              <a:t>A designer is a customer of requirements engineer</a:t>
            </a:r>
          </a:p>
          <a:p>
            <a:r>
              <a:rPr lang="en-US" dirty="0"/>
              <a:t>A test engineer is a customer of all other phases</a:t>
            </a:r>
          </a:p>
          <a:p>
            <a:r>
              <a:rPr lang="en-US" dirty="0"/>
              <a:t>A programmer is a customer of test engineer also</a:t>
            </a:r>
          </a:p>
          <a:p>
            <a:r>
              <a:rPr lang="en-US" dirty="0"/>
              <a:t>A user is a customer of maintenance phase</a:t>
            </a:r>
          </a:p>
          <a:p>
            <a:r>
              <a:rPr lang="en-US" dirty="0"/>
              <a:t>…</a:t>
            </a:r>
          </a:p>
        </p:txBody>
      </p:sp>
      <p:sp>
        <p:nvSpPr>
          <p:cNvPr id="4" name="TextBox 3"/>
          <p:cNvSpPr txBox="1"/>
          <p:nvPr/>
        </p:nvSpPr>
        <p:spPr>
          <a:xfrm>
            <a:off x="4752305" y="6176963"/>
            <a:ext cx="4636394" cy="369332"/>
          </a:xfrm>
          <a:prstGeom prst="rect">
            <a:avLst/>
          </a:prstGeom>
          <a:noFill/>
        </p:spPr>
        <p:txBody>
          <a:bodyPr wrap="square" rtlCol="0">
            <a:spAutoFit/>
          </a:bodyPr>
          <a:lstStyle/>
          <a:p>
            <a:r>
              <a:rPr lang="en-US" dirty="0"/>
              <a:t>See Chapter 2 of Hamlet</a:t>
            </a:r>
          </a:p>
        </p:txBody>
      </p:sp>
    </p:spTree>
    <p:extLst>
      <p:ext uri="{BB962C8B-B14F-4D97-AF65-F5344CB8AC3E}">
        <p14:creationId xmlns:p14="http://schemas.microsoft.com/office/powerpoint/2010/main" val="1913149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of Consistent Terminology</a:t>
            </a:r>
          </a:p>
        </p:txBody>
      </p:sp>
      <p:sp>
        <p:nvSpPr>
          <p:cNvPr id="3" name="Content Placeholder 2"/>
          <p:cNvSpPr>
            <a:spLocks noGrp="1"/>
          </p:cNvSpPr>
          <p:nvPr>
            <p:ph idx="1"/>
          </p:nvPr>
        </p:nvSpPr>
        <p:spPr/>
        <p:txBody>
          <a:bodyPr/>
          <a:lstStyle/>
          <a:p>
            <a:r>
              <a:rPr lang="en-US" dirty="0"/>
              <a:t>Specification or Design?</a:t>
            </a:r>
          </a:p>
          <a:p>
            <a:r>
              <a:rPr lang="en-US" dirty="0"/>
              <a:t>Test has failed?</a:t>
            </a:r>
          </a:p>
        </p:txBody>
      </p:sp>
      <p:sp>
        <p:nvSpPr>
          <p:cNvPr id="5" name="TextBox 4"/>
          <p:cNvSpPr txBox="1"/>
          <p:nvPr/>
        </p:nvSpPr>
        <p:spPr>
          <a:xfrm>
            <a:off x="4752305" y="6176963"/>
            <a:ext cx="4636394" cy="369332"/>
          </a:xfrm>
          <a:prstGeom prst="rect">
            <a:avLst/>
          </a:prstGeom>
          <a:noFill/>
        </p:spPr>
        <p:txBody>
          <a:bodyPr wrap="square" rtlCol="0">
            <a:spAutoFit/>
          </a:bodyPr>
          <a:lstStyle/>
          <a:p>
            <a:r>
              <a:rPr lang="en-US" dirty="0"/>
              <a:t>See Chapter 2 of Hamlet</a:t>
            </a:r>
          </a:p>
        </p:txBody>
      </p:sp>
    </p:spTree>
    <p:extLst>
      <p:ext uri="{BB962C8B-B14F-4D97-AF65-F5344CB8AC3E}">
        <p14:creationId xmlns:p14="http://schemas.microsoft.com/office/powerpoint/2010/main" val="3477193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Documentation</a:t>
            </a:r>
          </a:p>
        </p:txBody>
      </p:sp>
      <p:sp>
        <p:nvSpPr>
          <p:cNvPr id="3" name="Content Placeholder 2"/>
          <p:cNvSpPr>
            <a:spLocks noGrp="1"/>
          </p:cNvSpPr>
          <p:nvPr>
            <p:ph idx="1"/>
          </p:nvPr>
        </p:nvSpPr>
        <p:spPr/>
        <p:txBody>
          <a:bodyPr/>
          <a:lstStyle/>
          <a:p>
            <a:r>
              <a:rPr lang="en-US" dirty="0"/>
              <a:t>Record lest you forget it</a:t>
            </a:r>
          </a:p>
          <a:p>
            <a:r>
              <a:rPr lang="en-US" dirty="0"/>
              <a:t>Document assumptions at each stage</a:t>
            </a:r>
          </a:p>
          <a:p>
            <a:r>
              <a:rPr lang="en-US" dirty="0"/>
              <a:t>Traceability</a:t>
            </a:r>
          </a:p>
          <a:p>
            <a:r>
              <a:rPr lang="en-US" dirty="0"/>
              <a:t>Document structuring (placement of content)</a:t>
            </a:r>
          </a:p>
          <a:p>
            <a:r>
              <a:rPr lang="en-US" dirty="0"/>
              <a:t>Clarity</a:t>
            </a:r>
          </a:p>
          <a:p>
            <a:r>
              <a:rPr lang="en-US" dirty="0"/>
              <a:t>Repetition of terms vs definition of terms</a:t>
            </a:r>
          </a:p>
          <a:p>
            <a:r>
              <a:rPr lang="en-US" dirty="0"/>
              <a:t>Index</a:t>
            </a:r>
          </a:p>
        </p:txBody>
      </p:sp>
      <p:sp>
        <p:nvSpPr>
          <p:cNvPr id="4" name="TextBox 3"/>
          <p:cNvSpPr txBox="1"/>
          <p:nvPr/>
        </p:nvSpPr>
        <p:spPr>
          <a:xfrm>
            <a:off x="4752305" y="6176963"/>
            <a:ext cx="4636394" cy="369332"/>
          </a:xfrm>
          <a:prstGeom prst="rect">
            <a:avLst/>
          </a:prstGeom>
          <a:noFill/>
        </p:spPr>
        <p:txBody>
          <a:bodyPr wrap="square" rtlCol="0">
            <a:spAutoFit/>
          </a:bodyPr>
          <a:lstStyle/>
          <a:p>
            <a:r>
              <a:rPr lang="en-US" dirty="0"/>
              <a:t>See Chapter 2 of Hamlet</a:t>
            </a:r>
          </a:p>
        </p:txBody>
      </p:sp>
    </p:spTree>
    <p:extLst>
      <p:ext uri="{BB962C8B-B14F-4D97-AF65-F5344CB8AC3E}">
        <p14:creationId xmlns:p14="http://schemas.microsoft.com/office/powerpoint/2010/main" val="3845059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Transformation</a:t>
            </a:r>
          </a:p>
        </p:txBody>
      </p:sp>
      <p:sp>
        <p:nvSpPr>
          <p:cNvPr id="3" name="Content Placeholder 2"/>
          <p:cNvSpPr>
            <a:spLocks noGrp="1"/>
          </p:cNvSpPr>
          <p:nvPr>
            <p:ph idx="1"/>
          </p:nvPr>
        </p:nvSpPr>
        <p:spPr/>
        <p:txBody>
          <a:bodyPr/>
          <a:lstStyle/>
          <a:p>
            <a:r>
              <a:rPr lang="en-US" dirty="0"/>
              <a:t>Set of inputs to set of outputs</a:t>
            </a:r>
          </a:p>
          <a:p>
            <a:r>
              <a:rPr lang="en-US" dirty="0"/>
              <a:t>Identify all inputs and outputs</a:t>
            </a:r>
          </a:p>
          <a:p>
            <a:r>
              <a:rPr lang="en-US" dirty="0"/>
              <a:t>Identify the valid and invalid ranges of the I/O</a:t>
            </a:r>
          </a:p>
          <a:p>
            <a:r>
              <a:rPr lang="en-US" dirty="0"/>
              <a:t>Identify special or significant values of inputs and outputs</a:t>
            </a:r>
          </a:p>
          <a:p>
            <a:r>
              <a:rPr lang="en-US" dirty="0"/>
              <a:t>Identify important combinations of the input output values</a:t>
            </a:r>
          </a:p>
        </p:txBody>
      </p:sp>
      <p:sp>
        <p:nvSpPr>
          <p:cNvPr id="4" name="TextBox 3"/>
          <p:cNvSpPr txBox="1"/>
          <p:nvPr/>
        </p:nvSpPr>
        <p:spPr>
          <a:xfrm>
            <a:off x="4752305" y="6176963"/>
            <a:ext cx="4636394" cy="369332"/>
          </a:xfrm>
          <a:prstGeom prst="rect">
            <a:avLst/>
          </a:prstGeom>
          <a:noFill/>
        </p:spPr>
        <p:txBody>
          <a:bodyPr wrap="square" rtlCol="0">
            <a:spAutoFit/>
          </a:bodyPr>
          <a:lstStyle/>
          <a:p>
            <a:r>
              <a:rPr lang="en-US" dirty="0"/>
              <a:t>See Chapter 2 of Hamlet</a:t>
            </a:r>
          </a:p>
        </p:txBody>
      </p:sp>
    </p:spTree>
    <p:extLst>
      <p:ext uri="{BB962C8B-B14F-4D97-AF65-F5344CB8AC3E}">
        <p14:creationId xmlns:p14="http://schemas.microsoft.com/office/powerpoint/2010/main" val="3258768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as Transformation (Example)</a:t>
            </a:r>
          </a:p>
        </p:txBody>
      </p:sp>
      <p:sp>
        <p:nvSpPr>
          <p:cNvPr id="3" name="Content Placeholder 2"/>
          <p:cNvSpPr>
            <a:spLocks noGrp="1"/>
          </p:cNvSpPr>
          <p:nvPr>
            <p:ph idx="1"/>
          </p:nvPr>
        </p:nvSpPr>
        <p:spPr/>
        <p:txBody>
          <a:bodyPr/>
          <a:lstStyle/>
          <a:p>
            <a:pPr marL="0" indent="0">
              <a:buNone/>
            </a:pPr>
            <a:r>
              <a:rPr lang="en-US" dirty="0"/>
              <a:t>Consider an online telephone directory that is being developed to replace the phonebook that is provided by your phone company. The online directory should be able to provide phone numbers when presented with a name; it should also list area codes for different parts of the country and generate emergency telephone numbers for your area on request.</a:t>
            </a:r>
          </a:p>
          <a:p>
            <a:endParaRPr lang="en-US" dirty="0"/>
          </a:p>
        </p:txBody>
      </p:sp>
    </p:spTree>
    <p:extLst>
      <p:ext uri="{BB962C8B-B14F-4D97-AF65-F5344CB8AC3E}">
        <p14:creationId xmlns:p14="http://schemas.microsoft.com/office/powerpoint/2010/main" val="2858920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Reuse</a:t>
            </a:r>
          </a:p>
        </p:txBody>
      </p:sp>
      <p:sp>
        <p:nvSpPr>
          <p:cNvPr id="3" name="Content Placeholder 2"/>
          <p:cNvSpPr>
            <a:spLocks noGrp="1"/>
          </p:cNvSpPr>
          <p:nvPr>
            <p:ph idx="1"/>
          </p:nvPr>
        </p:nvSpPr>
        <p:spPr/>
        <p:txBody>
          <a:bodyPr/>
          <a:lstStyle/>
          <a:p>
            <a:r>
              <a:rPr lang="en-US" dirty="0"/>
              <a:t>Know the existing libraries</a:t>
            </a:r>
          </a:p>
          <a:p>
            <a:r>
              <a:rPr lang="en-US" dirty="0"/>
              <a:t>Develop the software so that it can be reused</a:t>
            </a:r>
          </a:p>
          <a:p>
            <a:pPr lvl="1"/>
            <a:r>
              <a:rPr lang="en-US" dirty="0"/>
              <a:t>Requirements</a:t>
            </a:r>
          </a:p>
          <a:p>
            <a:pPr lvl="1"/>
            <a:r>
              <a:rPr lang="en-US" dirty="0"/>
              <a:t>Code</a:t>
            </a:r>
          </a:p>
          <a:p>
            <a:pPr lvl="2"/>
            <a:r>
              <a:rPr lang="en-US" dirty="0"/>
              <a:t>E.g. well specified function prototypes (aka interfaces)</a:t>
            </a:r>
          </a:p>
        </p:txBody>
      </p:sp>
      <p:sp>
        <p:nvSpPr>
          <p:cNvPr id="4" name="TextBox 3"/>
          <p:cNvSpPr txBox="1"/>
          <p:nvPr/>
        </p:nvSpPr>
        <p:spPr>
          <a:xfrm>
            <a:off x="4752305" y="6176963"/>
            <a:ext cx="4636394" cy="369332"/>
          </a:xfrm>
          <a:prstGeom prst="rect">
            <a:avLst/>
          </a:prstGeom>
          <a:noFill/>
        </p:spPr>
        <p:txBody>
          <a:bodyPr wrap="square" rtlCol="0">
            <a:spAutoFit/>
          </a:bodyPr>
          <a:lstStyle/>
          <a:p>
            <a:r>
              <a:rPr lang="en-US" dirty="0"/>
              <a:t>See Chapter 2 of Hamlet</a:t>
            </a:r>
          </a:p>
        </p:txBody>
      </p:sp>
    </p:spTree>
    <p:extLst>
      <p:ext uri="{BB962C8B-B14F-4D97-AF65-F5344CB8AC3E}">
        <p14:creationId xmlns:p14="http://schemas.microsoft.com/office/powerpoint/2010/main" val="2974418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r>
              <a:rPr lang="en-US" dirty="0"/>
              <a:t>SE book by </a:t>
            </a:r>
            <a:r>
              <a:rPr lang="en-US" dirty="0" err="1"/>
              <a:t>Ghezzi</a:t>
            </a:r>
            <a:endParaRPr lang="en-US" dirty="0"/>
          </a:p>
          <a:p>
            <a:r>
              <a:rPr lang="en-US" dirty="0"/>
              <a:t>SE book by Hamlet</a:t>
            </a:r>
          </a:p>
          <a:p>
            <a:r>
              <a:rPr lang="en-US" dirty="0"/>
              <a:t>SE book by </a:t>
            </a:r>
            <a:r>
              <a:rPr lang="en-US" dirty="0" err="1"/>
              <a:t>Pfleeger</a:t>
            </a:r>
            <a:endParaRPr lang="en-US" dirty="0"/>
          </a:p>
          <a:p>
            <a:r>
              <a:rPr lang="en-US" dirty="0"/>
              <a:t>SE book by Pressman</a:t>
            </a:r>
          </a:p>
          <a:p>
            <a:r>
              <a:rPr lang="en-US" dirty="0">
                <a:hlinkClick r:id="rId2"/>
              </a:rPr>
              <a:t>https://www.educative.io/edpresso/what-are-the-different-types-of-coupling</a:t>
            </a:r>
            <a:endParaRPr lang="en-US" dirty="0"/>
          </a:p>
          <a:p>
            <a:endParaRPr lang="en-US" dirty="0"/>
          </a:p>
        </p:txBody>
      </p:sp>
    </p:spTree>
    <p:extLst>
      <p:ext uri="{BB962C8B-B14F-4D97-AF65-F5344CB8AC3E}">
        <p14:creationId xmlns:p14="http://schemas.microsoft.com/office/powerpoint/2010/main" val="3240670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16508</TotalTime>
  <Words>578</Words>
  <Application>Microsoft Office PowerPoint</Application>
  <PresentationFormat>Widescreen</PresentationFormat>
  <Paragraphs>126</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Courier New</vt:lpstr>
      <vt:lpstr>Lucida Sans Unicode</vt:lpstr>
      <vt:lpstr>Office Theme</vt:lpstr>
      <vt:lpstr>Software Engineering Principles</vt:lpstr>
      <vt:lpstr>Anticipation of Change</vt:lpstr>
      <vt:lpstr>Anticipation of Change</vt:lpstr>
      <vt:lpstr>Generality</vt:lpstr>
      <vt:lpstr>Incrementality</vt:lpstr>
      <vt:lpstr>Abstraction</vt:lpstr>
      <vt:lpstr>Abstraction</vt:lpstr>
      <vt:lpstr>Abstraction (Contd.)</vt:lpstr>
      <vt:lpstr>Identification of ‘Customers’</vt:lpstr>
      <vt:lpstr>Use of Consistent Terminology</vt:lpstr>
      <vt:lpstr>Documentation</vt:lpstr>
      <vt:lpstr>Software as Transformation</vt:lpstr>
      <vt:lpstr>Software as Transformation (Example)</vt:lpstr>
      <vt:lpstr>Reuse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Principles</dc:title>
  <dc:creator>Zeeshan Ali Rana</dc:creator>
  <cp:lastModifiedBy>ZAR</cp:lastModifiedBy>
  <cp:revision>52</cp:revision>
  <dcterms:created xsi:type="dcterms:W3CDTF">2021-04-20T04:16:08Z</dcterms:created>
  <dcterms:modified xsi:type="dcterms:W3CDTF">2026-09-17T15:01:51Z</dcterms:modified>
</cp:coreProperties>
</file>