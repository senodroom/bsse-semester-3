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430" r:id="rId2"/>
    <p:sldId id="384" r:id="rId3"/>
    <p:sldId id="449" r:id="rId4"/>
    <p:sldId id="450" r:id="rId5"/>
    <p:sldId id="441" r:id="rId6"/>
    <p:sldId id="439" r:id="rId7"/>
    <p:sldId id="440" r:id="rId8"/>
    <p:sldId id="442" r:id="rId9"/>
    <p:sldId id="443" r:id="rId10"/>
    <p:sldId id="451" r:id="rId11"/>
    <p:sldId id="408" r:id="rId12"/>
    <p:sldId id="452" r:id="rId13"/>
    <p:sldId id="422" r:id="rId14"/>
    <p:sldId id="421" r:id="rId15"/>
    <p:sldId id="36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76" autoAdjust="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CDF98-04A3-4FA1-8165-AC9A68647D5A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8B157-7CD0-4B3B-9669-778326D8A8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2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5F2CF-F23D-4C30-822F-1AD0D12E5D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1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5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9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1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5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6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16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5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7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0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452628" y="4343400"/>
            <a:ext cx="8458200" cy="99060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/>
              <a:t>Skills required to transform requirements into working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096000"/>
            <a:ext cx="2268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Zeeshan</a:t>
            </a:r>
            <a:r>
              <a:rPr lang="en-US" sz="2400" dirty="0">
                <a:solidFill>
                  <a:schemeClr val="bg1"/>
                </a:solidFill>
              </a:rPr>
              <a:t> Ali </a:t>
            </a:r>
            <a:r>
              <a:rPr lang="en-US" sz="2400" dirty="0" err="1">
                <a:solidFill>
                  <a:schemeClr val="bg1"/>
                </a:solidFill>
              </a:rPr>
              <a:t>Rana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2628" y="609600"/>
            <a:ext cx="8086725" cy="3352800"/>
          </a:xfrm>
        </p:spPr>
        <p:txBody>
          <a:bodyPr/>
          <a:lstStyle/>
          <a:p>
            <a:pPr algn="ctr"/>
            <a:r>
              <a:rPr lang="en-US" sz="7200" dirty="0"/>
              <a:t>Introduction to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249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Problems</a:t>
            </a:r>
          </a:p>
          <a:p>
            <a:pPr lvl="1"/>
            <a:r>
              <a:rPr lang="en-US" dirty="0"/>
              <a:t>Computers</a:t>
            </a:r>
          </a:p>
          <a:p>
            <a:pPr lvl="1"/>
            <a:r>
              <a:rPr lang="en-US" dirty="0"/>
              <a:t>Computing</a:t>
            </a:r>
          </a:p>
        </p:txBody>
      </p:sp>
      <p:sp>
        <p:nvSpPr>
          <p:cNvPr id="4" name="TextBox 3"/>
          <p:cNvSpPr txBox="1"/>
          <p:nvPr/>
        </p:nvSpPr>
        <p:spPr>
          <a:xfrm rot="19998048">
            <a:off x="4265692" y="4018242"/>
            <a:ext cx="426449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Multi-person construction of multi-version software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5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Engineering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Acceptable Quality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Cost Effectiveness</a:t>
            </a:r>
          </a:p>
          <a:p>
            <a:pPr lvl="1"/>
            <a:r>
              <a:rPr lang="en-US" dirty="0"/>
              <a:t>Engineering and operational feasibility</a:t>
            </a:r>
          </a:p>
          <a:p>
            <a:pPr lvl="1"/>
            <a:r>
              <a:rPr lang="en-US" dirty="0"/>
              <a:t>Limited development budget</a:t>
            </a:r>
          </a:p>
          <a:p>
            <a:r>
              <a:rPr lang="en-US" dirty="0"/>
              <a:t>Timely Completion</a:t>
            </a:r>
          </a:p>
          <a:p>
            <a:pPr lvl="1"/>
            <a:r>
              <a:rPr lang="en-US" dirty="0"/>
              <a:t>Limited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54067"/>
            <a:ext cx="4114800" cy="1015663"/>
          </a:xfrm>
          <a:prstGeom prst="rect">
            <a:avLst/>
          </a:prstGeom>
          <a:solidFill>
            <a:srgbClr val="FFFF00">
              <a:alpha val="64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Conflicts?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4474191"/>
            <a:ext cx="5791200" cy="1938992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0B050"/>
                </a:solidFill>
              </a:rPr>
              <a:t>Manage Conflicts…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0347" y="1600297"/>
            <a:ext cx="3581401" cy="1200329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… good enough software</a:t>
            </a:r>
          </a:p>
        </p:txBody>
      </p:sp>
    </p:spTree>
    <p:extLst>
      <p:ext uri="{BB962C8B-B14F-4D97-AF65-F5344CB8AC3E}">
        <p14:creationId xmlns:p14="http://schemas.microsoft.com/office/powerpoint/2010/main" val="235516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Disciplined, consistent, and systematic effort to construct (design + build) </a:t>
            </a:r>
            <a:r>
              <a:rPr lang="en-US"/>
              <a:t>and maintain </a:t>
            </a:r>
            <a:r>
              <a:rPr lang="en-US" dirty="0"/>
              <a:t>software in timely and cost-effective manner</a:t>
            </a:r>
          </a:p>
        </p:txBody>
      </p:sp>
    </p:spTree>
    <p:extLst>
      <p:ext uri="{BB962C8B-B14F-4D97-AF65-F5344CB8AC3E}">
        <p14:creationId xmlns:p14="http://schemas.microsoft.com/office/powerpoint/2010/main" val="76690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Terminology for Describing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>
            <a:normAutofit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/>
              <a:t>A fault</a:t>
            </a:r>
            <a:r>
              <a:rPr lang="en-GB" dirty="0"/>
              <a:t>: occurs when a human makes a mistake, called </a:t>
            </a:r>
            <a:r>
              <a:rPr lang="en-GB" b="1" dirty="0"/>
              <a:t>an error</a:t>
            </a:r>
            <a:r>
              <a:rPr lang="en-GB" dirty="0"/>
              <a:t>, in performing some software activities 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/>
              <a:t>A failure</a:t>
            </a:r>
            <a:r>
              <a:rPr lang="en-GB" dirty="0"/>
              <a:t>: is a departure from the system’s required behaviour</a:t>
            </a:r>
          </a:p>
        </p:txBody>
      </p:sp>
      <p:pic>
        <p:nvPicPr>
          <p:cNvPr id="4" name="Picture 9" descr="Slide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733800"/>
            <a:ext cx="6629400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62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of Software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01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and Defects?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err="1"/>
              <a:t>vs</a:t>
            </a:r>
            <a:r>
              <a:rPr lang="en-US" dirty="0"/>
              <a:t> Engine (wear-out???)</a:t>
            </a:r>
          </a:p>
          <a:p>
            <a:r>
              <a:rPr lang="en-US" dirty="0"/>
              <a:t>Software </a:t>
            </a:r>
            <a:r>
              <a:rPr lang="en-US" dirty="0" err="1"/>
              <a:t>vs</a:t>
            </a:r>
            <a:r>
              <a:rPr lang="en-US" dirty="0"/>
              <a:t> House</a:t>
            </a:r>
          </a:p>
          <a:p>
            <a:r>
              <a:rPr lang="en-US" dirty="0"/>
              <a:t>Software </a:t>
            </a:r>
            <a:r>
              <a:rPr lang="en-US" dirty="0" err="1"/>
              <a:t>vs</a:t>
            </a:r>
            <a:r>
              <a:rPr lang="en-US" dirty="0"/>
              <a:t> Cars (models? Versions?)</a:t>
            </a:r>
          </a:p>
          <a:p>
            <a:endParaRPr lang="en-US" dirty="0"/>
          </a:p>
          <a:p>
            <a:r>
              <a:rPr lang="en-US" dirty="0"/>
              <a:t>Stability????</a:t>
            </a:r>
          </a:p>
          <a:p>
            <a:r>
              <a:rPr lang="en-US" dirty="0"/>
              <a:t>Problems??? Defects???</a:t>
            </a:r>
          </a:p>
        </p:txBody>
      </p:sp>
      <p:sp>
        <p:nvSpPr>
          <p:cNvPr id="4" name="TextBox 3"/>
          <p:cNvSpPr txBox="1"/>
          <p:nvPr/>
        </p:nvSpPr>
        <p:spPr>
          <a:xfrm rot="19134276">
            <a:off x="5253961" y="3583700"/>
            <a:ext cx="220980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Malleable</a:t>
            </a:r>
          </a:p>
        </p:txBody>
      </p:sp>
      <p:sp>
        <p:nvSpPr>
          <p:cNvPr id="5" name="TextBox 4"/>
          <p:cNvSpPr txBox="1"/>
          <p:nvPr/>
        </p:nvSpPr>
        <p:spPr>
          <a:xfrm rot="19134276">
            <a:off x="5116392" y="4139994"/>
            <a:ext cx="3326485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Human intensive</a:t>
            </a:r>
          </a:p>
        </p:txBody>
      </p:sp>
    </p:spTree>
    <p:extLst>
      <p:ext uri="{BB962C8B-B14F-4D97-AF65-F5344CB8AC3E}">
        <p14:creationId xmlns:p14="http://schemas.microsoft.com/office/powerpoint/2010/main" val="59514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Curve for H/W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10" y="1942993"/>
            <a:ext cx="6295290" cy="44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6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Curve for S/W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35480"/>
            <a:ext cx="6486525" cy="4572000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3193961" y="2446986"/>
            <a:ext cx="4906850" cy="3103808"/>
          </a:xfrm>
          <a:custGeom>
            <a:avLst/>
            <a:gdLst>
              <a:gd name="connsiteX0" fmla="*/ 0 w 4906850"/>
              <a:gd name="connsiteY0" fmla="*/ 12879 h 3103808"/>
              <a:gd name="connsiteX1" fmla="*/ 0 w 4906850"/>
              <a:gd name="connsiteY1" fmla="*/ 12879 h 3103808"/>
              <a:gd name="connsiteX2" fmla="*/ 309093 w 4906850"/>
              <a:gd name="connsiteY2" fmla="*/ 721217 h 3103808"/>
              <a:gd name="connsiteX3" fmla="*/ 360608 w 4906850"/>
              <a:gd name="connsiteY3" fmla="*/ 1017431 h 3103808"/>
              <a:gd name="connsiteX4" fmla="*/ 412124 w 4906850"/>
              <a:gd name="connsiteY4" fmla="*/ 1171977 h 3103808"/>
              <a:gd name="connsiteX5" fmla="*/ 425002 w 4906850"/>
              <a:gd name="connsiteY5" fmla="*/ 1390918 h 3103808"/>
              <a:gd name="connsiteX6" fmla="*/ 450760 w 4906850"/>
              <a:gd name="connsiteY6" fmla="*/ 1506828 h 3103808"/>
              <a:gd name="connsiteX7" fmla="*/ 463639 w 4906850"/>
              <a:gd name="connsiteY7" fmla="*/ 1571222 h 3103808"/>
              <a:gd name="connsiteX8" fmla="*/ 502276 w 4906850"/>
              <a:gd name="connsiteY8" fmla="*/ 1828800 h 3103808"/>
              <a:gd name="connsiteX9" fmla="*/ 528033 w 4906850"/>
              <a:gd name="connsiteY9" fmla="*/ 1944710 h 3103808"/>
              <a:gd name="connsiteX10" fmla="*/ 553791 w 4906850"/>
              <a:gd name="connsiteY10" fmla="*/ 1983346 h 3103808"/>
              <a:gd name="connsiteX11" fmla="*/ 579549 w 4906850"/>
              <a:gd name="connsiteY11" fmla="*/ 2073499 h 3103808"/>
              <a:gd name="connsiteX12" fmla="*/ 605307 w 4906850"/>
              <a:gd name="connsiteY12" fmla="*/ 2125014 h 3103808"/>
              <a:gd name="connsiteX13" fmla="*/ 643943 w 4906850"/>
              <a:gd name="connsiteY13" fmla="*/ 2228045 h 3103808"/>
              <a:gd name="connsiteX14" fmla="*/ 656822 w 4906850"/>
              <a:gd name="connsiteY14" fmla="*/ 2266682 h 3103808"/>
              <a:gd name="connsiteX15" fmla="*/ 682580 w 4906850"/>
              <a:gd name="connsiteY15" fmla="*/ 2305318 h 3103808"/>
              <a:gd name="connsiteX16" fmla="*/ 708338 w 4906850"/>
              <a:gd name="connsiteY16" fmla="*/ 2369713 h 3103808"/>
              <a:gd name="connsiteX17" fmla="*/ 721216 w 4906850"/>
              <a:gd name="connsiteY17" fmla="*/ 2408349 h 3103808"/>
              <a:gd name="connsiteX18" fmla="*/ 746974 w 4906850"/>
              <a:gd name="connsiteY18" fmla="*/ 2446986 h 3103808"/>
              <a:gd name="connsiteX19" fmla="*/ 759853 w 4906850"/>
              <a:gd name="connsiteY19" fmla="*/ 2485622 h 3103808"/>
              <a:gd name="connsiteX20" fmla="*/ 785611 w 4906850"/>
              <a:gd name="connsiteY20" fmla="*/ 2524259 h 3103808"/>
              <a:gd name="connsiteX21" fmla="*/ 811369 w 4906850"/>
              <a:gd name="connsiteY21" fmla="*/ 2575775 h 3103808"/>
              <a:gd name="connsiteX22" fmla="*/ 875763 w 4906850"/>
              <a:gd name="connsiteY22" fmla="*/ 2665927 h 3103808"/>
              <a:gd name="connsiteX23" fmla="*/ 901521 w 4906850"/>
              <a:gd name="connsiteY23" fmla="*/ 2717442 h 3103808"/>
              <a:gd name="connsiteX24" fmla="*/ 953036 w 4906850"/>
              <a:gd name="connsiteY24" fmla="*/ 2756079 h 3103808"/>
              <a:gd name="connsiteX25" fmla="*/ 965915 w 4906850"/>
              <a:gd name="connsiteY25" fmla="*/ 2794715 h 3103808"/>
              <a:gd name="connsiteX26" fmla="*/ 1043188 w 4906850"/>
              <a:gd name="connsiteY26" fmla="*/ 2846231 h 3103808"/>
              <a:gd name="connsiteX27" fmla="*/ 1068946 w 4906850"/>
              <a:gd name="connsiteY27" fmla="*/ 2884868 h 3103808"/>
              <a:gd name="connsiteX28" fmla="*/ 1171977 w 4906850"/>
              <a:gd name="connsiteY28" fmla="*/ 2897746 h 3103808"/>
              <a:gd name="connsiteX29" fmla="*/ 1210614 w 4906850"/>
              <a:gd name="connsiteY29" fmla="*/ 2910625 h 3103808"/>
              <a:gd name="connsiteX30" fmla="*/ 1287887 w 4906850"/>
              <a:gd name="connsiteY30" fmla="*/ 2949262 h 3103808"/>
              <a:gd name="connsiteX31" fmla="*/ 1326524 w 4906850"/>
              <a:gd name="connsiteY31" fmla="*/ 2975020 h 3103808"/>
              <a:gd name="connsiteX32" fmla="*/ 1390918 w 4906850"/>
              <a:gd name="connsiteY32" fmla="*/ 2975020 h 3103808"/>
              <a:gd name="connsiteX33" fmla="*/ 4906850 w 4906850"/>
              <a:gd name="connsiteY33" fmla="*/ 3103808 h 3103808"/>
              <a:gd name="connsiteX34" fmla="*/ 4893971 w 4906850"/>
              <a:gd name="connsiteY34" fmla="*/ 0 h 3103808"/>
              <a:gd name="connsiteX35" fmla="*/ 0 w 4906850"/>
              <a:gd name="connsiteY35" fmla="*/ 12879 h 310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906850" h="3103808">
                <a:moveTo>
                  <a:pt x="0" y="12879"/>
                </a:moveTo>
                <a:lnTo>
                  <a:pt x="0" y="12879"/>
                </a:lnTo>
                <a:cubicBezTo>
                  <a:pt x="113082" y="502906"/>
                  <a:pt x="-89461" y="-315024"/>
                  <a:pt x="309093" y="721217"/>
                </a:cubicBezTo>
                <a:cubicBezTo>
                  <a:pt x="345070" y="814757"/>
                  <a:pt x="338276" y="919731"/>
                  <a:pt x="360608" y="1017431"/>
                </a:cubicBezTo>
                <a:cubicBezTo>
                  <a:pt x="372708" y="1070368"/>
                  <a:pt x="394952" y="1120462"/>
                  <a:pt x="412124" y="1171977"/>
                </a:cubicBezTo>
                <a:cubicBezTo>
                  <a:pt x="416417" y="1244957"/>
                  <a:pt x="416622" y="1318293"/>
                  <a:pt x="425002" y="1390918"/>
                </a:cubicBezTo>
                <a:cubicBezTo>
                  <a:pt x="429539" y="1430236"/>
                  <a:pt x="442467" y="1468127"/>
                  <a:pt x="450760" y="1506828"/>
                </a:cubicBezTo>
                <a:cubicBezTo>
                  <a:pt x="455347" y="1528232"/>
                  <a:pt x="459346" y="1549757"/>
                  <a:pt x="463639" y="1571222"/>
                </a:cubicBezTo>
                <a:cubicBezTo>
                  <a:pt x="484543" y="1822064"/>
                  <a:pt x="460498" y="1633834"/>
                  <a:pt x="502276" y="1828800"/>
                </a:cubicBezTo>
                <a:cubicBezTo>
                  <a:pt x="509696" y="1863427"/>
                  <a:pt x="510894" y="1910433"/>
                  <a:pt x="528033" y="1944710"/>
                </a:cubicBezTo>
                <a:cubicBezTo>
                  <a:pt x="534955" y="1958554"/>
                  <a:pt x="545205" y="1970467"/>
                  <a:pt x="553791" y="1983346"/>
                </a:cubicBezTo>
                <a:cubicBezTo>
                  <a:pt x="560326" y="2009487"/>
                  <a:pt x="568463" y="2047633"/>
                  <a:pt x="579549" y="2073499"/>
                </a:cubicBezTo>
                <a:cubicBezTo>
                  <a:pt x="587112" y="2091145"/>
                  <a:pt x="597923" y="2107292"/>
                  <a:pt x="605307" y="2125014"/>
                </a:cubicBezTo>
                <a:cubicBezTo>
                  <a:pt x="619414" y="2158872"/>
                  <a:pt x="631408" y="2193574"/>
                  <a:pt x="643943" y="2228045"/>
                </a:cubicBezTo>
                <a:cubicBezTo>
                  <a:pt x="648582" y="2240803"/>
                  <a:pt x="650751" y="2254540"/>
                  <a:pt x="656822" y="2266682"/>
                </a:cubicBezTo>
                <a:cubicBezTo>
                  <a:pt x="663744" y="2280526"/>
                  <a:pt x="675658" y="2291474"/>
                  <a:pt x="682580" y="2305318"/>
                </a:cubicBezTo>
                <a:cubicBezTo>
                  <a:pt x="692919" y="2325996"/>
                  <a:pt x="700221" y="2348066"/>
                  <a:pt x="708338" y="2369713"/>
                </a:cubicBezTo>
                <a:cubicBezTo>
                  <a:pt x="713105" y="2382424"/>
                  <a:pt x="715145" y="2396207"/>
                  <a:pt x="721216" y="2408349"/>
                </a:cubicBezTo>
                <a:cubicBezTo>
                  <a:pt x="728138" y="2422194"/>
                  <a:pt x="740052" y="2433142"/>
                  <a:pt x="746974" y="2446986"/>
                </a:cubicBezTo>
                <a:cubicBezTo>
                  <a:pt x="753045" y="2459128"/>
                  <a:pt x="753782" y="2473480"/>
                  <a:pt x="759853" y="2485622"/>
                </a:cubicBezTo>
                <a:cubicBezTo>
                  <a:pt x="766775" y="2499466"/>
                  <a:pt x="777931" y="2510820"/>
                  <a:pt x="785611" y="2524259"/>
                </a:cubicBezTo>
                <a:cubicBezTo>
                  <a:pt x="795136" y="2540928"/>
                  <a:pt x="801194" y="2559494"/>
                  <a:pt x="811369" y="2575775"/>
                </a:cubicBezTo>
                <a:cubicBezTo>
                  <a:pt x="857446" y="2649498"/>
                  <a:pt x="839430" y="2602345"/>
                  <a:pt x="875763" y="2665927"/>
                </a:cubicBezTo>
                <a:cubicBezTo>
                  <a:pt x="885288" y="2682596"/>
                  <a:pt x="889027" y="2702865"/>
                  <a:pt x="901521" y="2717442"/>
                </a:cubicBezTo>
                <a:cubicBezTo>
                  <a:pt x="915490" y="2733739"/>
                  <a:pt x="935864" y="2743200"/>
                  <a:pt x="953036" y="2756079"/>
                </a:cubicBezTo>
                <a:cubicBezTo>
                  <a:pt x="957329" y="2768958"/>
                  <a:pt x="956316" y="2785116"/>
                  <a:pt x="965915" y="2794715"/>
                </a:cubicBezTo>
                <a:cubicBezTo>
                  <a:pt x="987805" y="2816605"/>
                  <a:pt x="1043188" y="2846231"/>
                  <a:pt x="1043188" y="2846231"/>
                </a:cubicBezTo>
                <a:cubicBezTo>
                  <a:pt x="1051774" y="2859110"/>
                  <a:pt x="1054574" y="2879119"/>
                  <a:pt x="1068946" y="2884868"/>
                </a:cubicBezTo>
                <a:cubicBezTo>
                  <a:pt x="1101081" y="2897722"/>
                  <a:pt x="1137924" y="2891555"/>
                  <a:pt x="1171977" y="2897746"/>
                </a:cubicBezTo>
                <a:cubicBezTo>
                  <a:pt x="1185334" y="2900174"/>
                  <a:pt x="1197735" y="2906332"/>
                  <a:pt x="1210614" y="2910625"/>
                </a:cubicBezTo>
                <a:cubicBezTo>
                  <a:pt x="1321334" y="2984440"/>
                  <a:pt x="1181250" y="2895944"/>
                  <a:pt x="1287887" y="2949262"/>
                </a:cubicBezTo>
                <a:cubicBezTo>
                  <a:pt x="1301732" y="2956184"/>
                  <a:pt x="1311508" y="2971266"/>
                  <a:pt x="1326524" y="2975020"/>
                </a:cubicBezTo>
                <a:cubicBezTo>
                  <a:pt x="1347348" y="2980226"/>
                  <a:pt x="1369453" y="2975020"/>
                  <a:pt x="1390918" y="2975020"/>
                </a:cubicBezTo>
                <a:lnTo>
                  <a:pt x="4906850" y="3103808"/>
                </a:lnTo>
                <a:lnTo>
                  <a:pt x="4893971" y="0"/>
                </a:lnTo>
                <a:lnTo>
                  <a:pt x="0" y="12879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Evolution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7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Lehman’s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(1974) "Continuing Change" — A system must be continually adapted or it becomes progressively less satisfactory. It happens so until it becomes economical to replace it by a new or a restructured version</a:t>
            </a:r>
          </a:p>
          <a:p>
            <a:r>
              <a:rPr lang="en-US" dirty="0"/>
              <a:t>(1974) "Increasing Complexity/Entropy" —Complexity/entropy of a system increases with time, unless work is done to maintain or reduce it</a:t>
            </a:r>
          </a:p>
          <a:p>
            <a:r>
              <a:rPr lang="en-US" dirty="0"/>
              <a:t>(1991) "Continuing Growth" — the functional content of a system must be continually increased to maintain user satisfaction over its lifetime</a:t>
            </a:r>
          </a:p>
          <a:p>
            <a:r>
              <a:rPr lang="en-US" dirty="0"/>
              <a:t>(1996) "Declining Quality" — the quality of a system will appear to be declining unless it is rigorously maintained and adapted to operational environment changes</a:t>
            </a:r>
          </a:p>
        </p:txBody>
      </p:sp>
    </p:spTree>
    <p:extLst>
      <p:ext uri="{BB962C8B-B14F-4D97-AF65-F5344CB8AC3E}">
        <p14:creationId xmlns:p14="http://schemas.microsoft.com/office/powerpoint/2010/main" val="148826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Farmers and gardens, picking equal number of fruits…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20553"/>
              </p:ext>
            </p:extLst>
          </p:nvPr>
        </p:nvGraphicFramePr>
        <p:xfrm>
          <a:off x="2895599" y="4343400"/>
          <a:ext cx="6096001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Farmer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22051"/>
              </p:ext>
            </p:extLst>
          </p:nvPr>
        </p:nvGraphicFramePr>
        <p:xfrm>
          <a:off x="2895600" y="4343400"/>
          <a:ext cx="6096001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Farmer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21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06" y="1600200"/>
            <a:ext cx="8712412" cy="190023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59012" y="1143000"/>
            <a:ext cx="838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need a time series model for the purpose of forecasting demand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619430"/>
            <a:ext cx="7258050" cy="2752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097" y="2550319"/>
            <a:ext cx="66484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8748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forecast output in a file</a:t>
            </a:r>
          </a:p>
          <a:p>
            <a:r>
              <a:rPr lang="en-US" dirty="0"/>
              <a:t>Should be run once for multiple businesses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1" y="4495800"/>
            <a:ext cx="8492289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19" y="3430047"/>
            <a:ext cx="6824870" cy="6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References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229600" cy="29413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Roger Pressman, Software Engineering: A Practitioner’s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Ghezzi</a:t>
            </a:r>
            <a:r>
              <a:rPr lang="en-US" dirty="0"/>
              <a:t> et al., Fundamentals of Software Engineering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Pfleeger</a:t>
            </a:r>
            <a:r>
              <a:rPr lang="en-US" dirty="0"/>
              <a:t> et al. Software Engineering, Theory </a:t>
            </a:r>
            <a:r>
              <a:rPr lang="en-US"/>
              <a:t>and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9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24959</TotalTime>
  <Words>406</Words>
  <Application>Microsoft Office PowerPoint</Application>
  <PresentationFormat>On-screen Show (4:3)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Metropolitan</vt:lpstr>
      <vt:lpstr>Introduction to Software Engineering</vt:lpstr>
      <vt:lpstr>Software Engineering</vt:lpstr>
      <vt:lpstr>Software Engineering Challenges</vt:lpstr>
      <vt:lpstr>Software Engineering</vt:lpstr>
      <vt:lpstr>Terminology for Describing Bugs</vt:lpstr>
      <vt:lpstr>Nature of Software</vt:lpstr>
      <vt:lpstr>Software and Defects?</vt:lpstr>
      <vt:lpstr>Failure Curve for H/W</vt:lpstr>
      <vt:lpstr>Failure Curve for S/W</vt:lpstr>
      <vt:lpstr>Software Evolution</vt:lpstr>
      <vt:lpstr>Lehman’s Laws</vt:lpstr>
      <vt:lpstr>Example</vt:lpstr>
      <vt:lpstr>PowerPoint Presentation</vt:lpstr>
      <vt:lpstr>Examples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aadil</dc:creator>
  <cp:lastModifiedBy>Zeeshan</cp:lastModifiedBy>
  <cp:revision>296</cp:revision>
  <dcterms:created xsi:type="dcterms:W3CDTF">2011-09-06T15:43:21Z</dcterms:created>
  <dcterms:modified xsi:type="dcterms:W3CDTF">2026-09-01T15:43:09Z</dcterms:modified>
</cp:coreProperties>
</file>