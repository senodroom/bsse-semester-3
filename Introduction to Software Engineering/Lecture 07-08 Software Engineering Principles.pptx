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7" r:id="rId3"/>
    <p:sldId id="257" r:id="rId4"/>
    <p:sldId id="286" r:id="rId5"/>
    <p:sldId id="258" r:id="rId6"/>
    <p:sldId id="259" r:id="rId7"/>
    <p:sldId id="283" r:id="rId8"/>
    <p:sldId id="261" r:id="rId9"/>
    <p:sldId id="263" r:id="rId10"/>
    <p:sldId id="278" r:id="rId11"/>
    <p:sldId id="279" r:id="rId12"/>
    <p:sldId id="280" r:id="rId13"/>
    <p:sldId id="281" r:id="rId14"/>
    <p:sldId id="262" r:id="rId15"/>
    <p:sldId id="284" r:id="rId16"/>
    <p:sldId id="285" r:id="rId17"/>
    <p:sldId id="275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44" d="100"/>
          <a:sy n="44" d="100"/>
        </p:scale>
        <p:origin x="7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B0E5BD-5CE9-4983-9546-9582311263F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CDFF1-75E5-409D-A61B-6FB351E2E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68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28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938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07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216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16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77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C66C3-36B7-4421-9A79-0AC1B7C15DA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C8C4-CF1A-45C9-9060-1E39163B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C66C3-36B7-4421-9A79-0AC1B7C15DA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C8C4-CF1A-45C9-9060-1E39163B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40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C66C3-36B7-4421-9A79-0AC1B7C15DA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C8C4-CF1A-45C9-9060-1E39163B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57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C66C3-36B7-4421-9A79-0AC1B7C15DA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C8C4-CF1A-45C9-9060-1E39163B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87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C66C3-36B7-4421-9A79-0AC1B7C15DA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C8C4-CF1A-45C9-9060-1E39163B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1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C66C3-36B7-4421-9A79-0AC1B7C15DA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C8C4-CF1A-45C9-9060-1E39163B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61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C66C3-36B7-4421-9A79-0AC1B7C15DA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C8C4-CF1A-45C9-9060-1E39163B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68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C66C3-36B7-4421-9A79-0AC1B7C15DA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C8C4-CF1A-45C9-9060-1E39163B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60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C66C3-36B7-4421-9A79-0AC1B7C15DA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C8C4-CF1A-45C9-9060-1E39163B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5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C66C3-36B7-4421-9A79-0AC1B7C15DA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C8C4-CF1A-45C9-9060-1E39163B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55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C66C3-36B7-4421-9A79-0AC1B7C15DA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C8C4-CF1A-45C9-9060-1E39163B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7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C66C3-36B7-4421-9A79-0AC1B7C15DA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6C8C4-CF1A-45C9-9060-1E39163B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19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ducative.io/edpresso/what-are-the-different-types-of-coupl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Engineering Principles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09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in Software 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429" y="2534712"/>
            <a:ext cx="7038629" cy="331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68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Rigor and Formality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Precision and exactness</a:t>
            </a:r>
          </a:p>
          <a:p>
            <a:pPr lvl="1"/>
            <a:r>
              <a:rPr lang="en-US" dirty="0"/>
              <a:t>Repeatedly produce reliable products</a:t>
            </a:r>
          </a:p>
          <a:p>
            <a:pPr lvl="1"/>
            <a:r>
              <a:rPr lang="en-US" dirty="0"/>
              <a:t>Control costs of the products</a:t>
            </a:r>
          </a:p>
          <a:p>
            <a:pPr lvl="1"/>
            <a:r>
              <a:rPr lang="en-US" dirty="0"/>
              <a:t>Increase confidence in reliability of the products</a:t>
            </a:r>
          </a:p>
          <a:p>
            <a:r>
              <a:rPr lang="en-US" dirty="0"/>
              <a:t>Highest degree of rigor is formality</a:t>
            </a:r>
          </a:p>
          <a:p>
            <a:pPr lvl="1"/>
            <a:r>
              <a:rPr lang="en-US" dirty="0"/>
              <a:t>Use of mathematical laws to derive and evaluate the software process.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2305" y="6176963"/>
            <a:ext cx="340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Chapter 3 of </a:t>
            </a:r>
            <a:r>
              <a:rPr lang="en-US" dirty="0" err="1"/>
              <a:t>Ghezzi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726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315F6-00DD-0DBC-C9F6-B88E230F0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C057-0538-E56C-C702-8BB4AC3E6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Rigor and Formality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01BD7-56CE-32CD-6A25-9AE550BE3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Has beneficial effects on:</a:t>
            </a:r>
          </a:p>
          <a:p>
            <a:pPr lvl="1"/>
            <a:r>
              <a:rPr lang="en-US" dirty="0"/>
              <a:t>Reliability</a:t>
            </a:r>
          </a:p>
          <a:p>
            <a:pPr lvl="1"/>
            <a:r>
              <a:rPr lang="en-US" dirty="0"/>
              <a:t>Verifiability</a:t>
            </a:r>
          </a:p>
          <a:p>
            <a:pPr lvl="1"/>
            <a:r>
              <a:rPr lang="en-US" dirty="0"/>
              <a:t>Maintainability</a:t>
            </a:r>
          </a:p>
          <a:p>
            <a:pPr lvl="1"/>
            <a:r>
              <a:rPr lang="en-US" dirty="0"/>
              <a:t>Reusability</a:t>
            </a:r>
          </a:p>
          <a:p>
            <a:pPr lvl="1"/>
            <a:r>
              <a:rPr lang="en-US" dirty="0"/>
              <a:t>Portability</a:t>
            </a:r>
          </a:p>
          <a:p>
            <a:pPr lvl="1"/>
            <a:r>
              <a:rPr lang="en-US" dirty="0"/>
              <a:t>Understandability</a:t>
            </a:r>
          </a:p>
          <a:p>
            <a:pPr lvl="1"/>
            <a:r>
              <a:rPr lang="en-US" dirty="0"/>
              <a:t>Interoperability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63BF35-6768-5788-ACE2-52A3B565BCB4}"/>
              </a:ext>
            </a:extLst>
          </p:cNvPr>
          <p:cNvSpPr txBox="1"/>
          <p:nvPr/>
        </p:nvSpPr>
        <p:spPr>
          <a:xfrm>
            <a:off x="4752305" y="6176963"/>
            <a:ext cx="340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Chapter 3 of </a:t>
            </a:r>
            <a:r>
              <a:rPr lang="en-US" dirty="0" err="1"/>
              <a:t>Ghezzi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552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Separation of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</a:t>
            </a:r>
          </a:p>
          <a:p>
            <a:r>
              <a:rPr lang="en-US" dirty="0"/>
              <a:t>Qualities</a:t>
            </a:r>
          </a:p>
          <a:p>
            <a:r>
              <a:rPr lang="en-US" dirty="0"/>
              <a:t>Views</a:t>
            </a:r>
          </a:p>
          <a:p>
            <a:r>
              <a:rPr lang="en-US" dirty="0"/>
              <a:t>Parts</a:t>
            </a:r>
          </a:p>
          <a:p>
            <a:r>
              <a:rPr lang="en-US" dirty="0"/>
              <a:t>Management vs Technical</a:t>
            </a:r>
          </a:p>
          <a:p>
            <a:r>
              <a:rPr lang="en-US" dirty="0"/>
              <a:t>Problem-domain concerns vs implementation-domain concerns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7102547"/>
              </p:ext>
            </p:extLst>
          </p:nvPr>
        </p:nvGraphicFramePr>
        <p:xfrm>
          <a:off x="4225344" y="1690688"/>
          <a:ext cx="741301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9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8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Requirements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Deployment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52305" y="6176963"/>
            <a:ext cx="4636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Chapter 3 of </a:t>
            </a:r>
            <a:r>
              <a:rPr lang="en-US" dirty="0" err="1"/>
              <a:t>Ghezzi</a:t>
            </a:r>
            <a:r>
              <a:rPr lang="en-US" dirty="0"/>
              <a:t>, Chapter 1 of Hamlet</a:t>
            </a:r>
          </a:p>
        </p:txBody>
      </p:sp>
    </p:spTree>
    <p:extLst>
      <p:ext uri="{BB962C8B-B14F-4D97-AF65-F5344CB8AC3E}">
        <p14:creationId xmlns:p14="http://schemas.microsoft.com/office/powerpoint/2010/main" val="2419905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349" y="1827772"/>
            <a:ext cx="10515600" cy="4351338"/>
          </a:xfrm>
        </p:spPr>
        <p:txBody>
          <a:bodyPr/>
          <a:lstStyle/>
          <a:p>
            <a:r>
              <a:rPr lang="en-US" dirty="0"/>
              <a:t>Decomposability</a:t>
            </a:r>
          </a:p>
          <a:p>
            <a:r>
              <a:rPr lang="en-US" dirty="0"/>
              <a:t>Composability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5364051" y="242552"/>
            <a:ext cx="6629400" cy="4114800"/>
            <a:chOff x="0" y="0"/>
            <a:chExt cx="9100" cy="5280"/>
          </a:xfrm>
        </p:grpSpPr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63" y="0"/>
              <a:ext cx="8440" cy="48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sp>
          <p:nvSpPr>
            <p:cNvPr id="6" name="Rectangle 6"/>
            <p:cNvSpPr>
              <a:spLocks/>
            </p:cNvSpPr>
            <p:nvPr/>
          </p:nvSpPr>
          <p:spPr bwMode="auto">
            <a:xfrm>
              <a:off x="0" y="4940"/>
              <a:ext cx="9100" cy="340"/>
            </a:xfrm>
            <a:prstGeom prst="rect">
              <a:avLst/>
            </a:prstGeom>
            <a:noFill/>
            <a:ln w="317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093335" y="717863"/>
            <a:ext cx="7715250" cy="5672447"/>
            <a:chOff x="0" y="0"/>
            <a:chExt cx="4200525" cy="8782050"/>
          </a:xfrm>
        </p:grpSpPr>
        <p:sp>
          <p:nvSpPr>
            <p:cNvPr id="8" name="Rectangle 7"/>
            <p:cNvSpPr/>
            <p:nvPr/>
          </p:nvSpPr>
          <p:spPr>
            <a:xfrm>
              <a:off x="3048000" y="1990725"/>
              <a:ext cx="1104900" cy="4572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dirty="0">
                  <a:solidFill>
                    <a:srgbClr val="000000"/>
                  </a:solidFill>
                  <a:effectLst/>
                  <a:ea typeface="Calibri"/>
                  <a:cs typeface="Arial"/>
                </a:rPr>
                <a:t>Submission Verification</a:t>
              </a:r>
              <a:endParaRPr lang="en-US" sz="1100" dirty="0">
                <a:effectLst/>
                <a:ea typeface="Calibri"/>
                <a:cs typeface="Arial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67050" y="2619375"/>
              <a:ext cx="1104900" cy="4572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solidFill>
                    <a:srgbClr val="000000"/>
                  </a:solidFill>
                  <a:effectLst/>
                  <a:ea typeface="Calibri"/>
                  <a:cs typeface="Arial"/>
                </a:rPr>
                <a:t>Submission Storage</a:t>
              </a:r>
              <a:endParaRPr lang="en-US" sz="1100">
                <a:effectLst/>
                <a:ea typeface="Calibri"/>
                <a:cs typeface="Arial"/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0" y="0"/>
              <a:ext cx="4200525" cy="8782050"/>
              <a:chOff x="0" y="0"/>
              <a:chExt cx="4200525" cy="878205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0" y="0"/>
                <a:ext cx="1562100" cy="4572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effectLst/>
                    <a:ea typeface="Calibri"/>
                    <a:cs typeface="Arial"/>
                  </a:rPr>
                  <a:t>Quiz System</a:t>
                </a:r>
                <a:endParaRPr lang="en-US" sz="1100">
                  <a:effectLst/>
                  <a:ea typeface="Calibri"/>
                  <a:cs typeface="Arial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2143125" y="1371600"/>
                <a:ext cx="1104900" cy="4572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effectLst/>
                    <a:ea typeface="Calibri"/>
                    <a:cs typeface="Arial"/>
                  </a:rPr>
                  <a:t>Submission Management</a:t>
                </a:r>
                <a:endParaRPr lang="en-US" sz="1100">
                  <a:effectLst/>
                  <a:ea typeface="Calibri"/>
                  <a:cs typeface="Arial"/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1304925" y="3905250"/>
                <a:ext cx="1190625" cy="4572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effectLst/>
                    <a:ea typeface="Calibri"/>
                    <a:cs typeface="Arial"/>
                  </a:rPr>
                  <a:t>Faculty sub System</a:t>
                </a:r>
                <a:endParaRPr lang="en-US" sz="1100">
                  <a:effectLst/>
                  <a:ea typeface="Calibri"/>
                  <a:cs typeface="Arial"/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1304925" y="714375"/>
                <a:ext cx="1181100" cy="4572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effectLst/>
                    <a:ea typeface="Calibri"/>
                    <a:cs typeface="Arial"/>
                  </a:rPr>
                  <a:t>Student sub System</a:t>
                </a:r>
                <a:endParaRPr lang="en-US" sz="1100">
                  <a:effectLst/>
                  <a:ea typeface="Calibri"/>
                  <a:cs typeface="Arial"/>
                </a:endParaRP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2143125" y="3324225"/>
                <a:ext cx="1333500" cy="4572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effectLst/>
                    <a:ea typeface="Calibri"/>
                    <a:cs typeface="Arial"/>
                  </a:rPr>
                  <a:t>Quiz Conduction and Display</a:t>
                </a:r>
                <a:endParaRPr lang="en-US" sz="1100">
                  <a:effectLst/>
                  <a:ea typeface="Calibri"/>
                  <a:cs typeface="Arial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2162175" y="4562475"/>
                <a:ext cx="1104900" cy="4572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effectLst/>
                    <a:ea typeface="Calibri"/>
                    <a:cs typeface="Arial"/>
                  </a:rPr>
                  <a:t>User Management</a:t>
                </a:r>
                <a:endParaRPr lang="en-US" sz="1100">
                  <a:effectLst/>
                  <a:ea typeface="Calibri"/>
                  <a:cs typeface="Arial"/>
                </a:endParaRP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2162175" y="5191125"/>
                <a:ext cx="1104900" cy="4572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effectLst/>
                    <a:ea typeface="Calibri"/>
                    <a:cs typeface="Arial"/>
                  </a:rPr>
                  <a:t>Quiz Management</a:t>
                </a:r>
                <a:endParaRPr lang="en-US" sz="1100">
                  <a:effectLst/>
                  <a:ea typeface="Calibri"/>
                  <a:cs typeface="Arial"/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2162175" y="7058025"/>
                <a:ext cx="1104900" cy="4572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solidFill>
                      <a:srgbClr val="000000"/>
                    </a:solidFill>
                    <a:effectLst/>
                    <a:ea typeface="Calibri"/>
                    <a:cs typeface="Arial"/>
                  </a:rPr>
                  <a:t>Report Management</a:t>
                </a:r>
                <a:endParaRPr lang="en-US" sz="1100" dirty="0">
                  <a:effectLst/>
                  <a:ea typeface="Calibri"/>
                  <a:cs typeface="Arial"/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3067050" y="5848350"/>
                <a:ext cx="1104900" cy="4572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effectLst/>
                    <a:ea typeface="Calibri"/>
                    <a:cs typeface="Arial"/>
                  </a:rPr>
                  <a:t>Quiz Generation</a:t>
                </a:r>
                <a:endParaRPr lang="en-US" sz="1100">
                  <a:effectLst/>
                  <a:ea typeface="Calibri"/>
                  <a:cs typeface="Arial"/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3095625" y="6477000"/>
                <a:ext cx="1104900" cy="4572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solidFill>
                      <a:srgbClr val="000000"/>
                    </a:solidFill>
                    <a:effectLst/>
                    <a:ea typeface="Calibri"/>
                    <a:cs typeface="Arial"/>
                  </a:rPr>
                  <a:t>Question Management</a:t>
                </a:r>
                <a:endParaRPr lang="en-US" sz="1100" dirty="0">
                  <a:effectLst/>
                  <a:ea typeface="Calibri"/>
                  <a:cs typeface="Arial"/>
                </a:endParaRP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3057525" y="7696200"/>
                <a:ext cx="1104900" cy="4572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effectLst/>
                    <a:ea typeface="Calibri"/>
                    <a:cs typeface="Arial"/>
                  </a:rPr>
                  <a:t>Grading</a:t>
                </a:r>
                <a:endParaRPr lang="en-US" sz="1100">
                  <a:effectLst/>
                  <a:ea typeface="Calibri"/>
                  <a:cs typeface="Arial"/>
                </a:endParaRPr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>
                <a:off x="790575" y="457200"/>
                <a:ext cx="0" cy="36766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>
                <a:off x="790575" y="933450"/>
                <a:ext cx="51435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>
                <a:off x="790575" y="4133850"/>
                <a:ext cx="51435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1885950" y="1171575"/>
                <a:ext cx="0" cy="23812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>
                <a:off x="1876425" y="1590675"/>
                <a:ext cx="2667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2667000" y="1828800"/>
                <a:ext cx="0" cy="103822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>
                <a:off x="2667000" y="2228850"/>
                <a:ext cx="381000" cy="952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>
                <a:off x="2667000" y="2867025"/>
                <a:ext cx="40005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>
                <a:off x="1885950" y="3552825"/>
                <a:ext cx="25717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1885950" y="4362450"/>
                <a:ext cx="0" cy="29241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>
                <a:off x="1885950" y="4791075"/>
                <a:ext cx="2667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/>
              <p:nvPr/>
            </p:nvCxnSpPr>
            <p:spPr>
              <a:xfrm>
                <a:off x="1885950" y="5419725"/>
                <a:ext cx="2667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2686050" y="5657850"/>
                <a:ext cx="0" cy="103822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>
                <a:off x="2686050" y="6057900"/>
                <a:ext cx="381000" cy="952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/>
              <p:nvPr/>
            </p:nvCxnSpPr>
            <p:spPr>
              <a:xfrm>
                <a:off x="2686050" y="6696075"/>
                <a:ext cx="40005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>
                <a:off x="1885950" y="7286625"/>
                <a:ext cx="2667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2676525" y="7515225"/>
                <a:ext cx="0" cy="103822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/>
              <p:nvPr/>
            </p:nvCxnSpPr>
            <p:spPr>
              <a:xfrm>
                <a:off x="2676525" y="7915275"/>
                <a:ext cx="381000" cy="952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>
                <a:off x="2676525" y="8553450"/>
                <a:ext cx="40005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Rectangle 40"/>
              <p:cNvSpPr/>
              <p:nvPr/>
            </p:nvSpPr>
            <p:spPr>
              <a:xfrm>
                <a:off x="3086100" y="8324850"/>
                <a:ext cx="1104900" cy="4572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effectLst/>
                    <a:ea typeface="Calibri"/>
                    <a:cs typeface="Arial"/>
                  </a:rPr>
                  <a:t>Attempt Reporting</a:t>
                </a:r>
                <a:endParaRPr lang="en-US" sz="1100">
                  <a:effectLst/>
                  <a:ea typeface="Calibri"/>
                  <a:cs typeface="Arial"/>
                </a:endParaRPr>
              </a:p>
            </p:txBody>
          </p:sp>
        </p:grpSp>
      </p:grpSp>
      <p:sp>
        <p:nvSpPr>
          <p:cNvPr id="42" name="TextBox 41"/>
          <p:cNvSpPr txBox="1"/>
          <p:nvPr/>
        </p:nvSpPr>
        <p:spPr>
          <a:xfrm>
            <a:off x="4752305" y="6176963"/>
            <a:ext cx="4636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Chapter 3 of </a:t>
            </a:r>
            <a:r>
              <a:rPr lang="en-US" dirty="0" err="1"/>
              <a:t>Ghezzi</a:t>
            </a:r>
            <a:r>
              <a:rPr lang="en-US" dirty="0"/>
              <a:t>, Chapter 2 of Hamlet</a:t>
            </a:r>
          </a:p>
        </p:txBody>
      </p:sp>
    </p:spTree>
    <p:extLst>
      <p:ext uri="{BB962C8B-B14F-4D97-AF65-F5344CB8AC3E}">
        <p14:creationId xmlns:p14="http://schemas.microsoft.com/office/powerpoint/2010/main" val="268445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>
          <a:xfrm>
            <a:off x="641798" y="440454"/>
            <a:ext cx="8220075" cy="113506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Modularity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idx="1"/>
          </p:nvPr>
        </p:nvSpPr>
        <p:spPr>
          <a:xfrm>
            <a:off x="641799" y="1752600"/>
            <a:ext cx="9559478" cy="4267200"/>
          </a:xfrm>
        </p:spPr>
        <p:txBody>
          <a:bodyPr>
            <a:normAutofit/>
          </a:bodyPr>
          <a:lstStyle/>
          <a:p>
            <a:r>
              <a:rPr lang="en-US" sz="2000" b="1" dirty="0"/>
              <a:t>Modularity </a:t>
            </a:r>
            <a:r>
              <a:rPr lang="en-US" sz="2000" dirty="0"/>
              <a:t>is the principle of keeping the unrelated aspects of a system separate from each other, </a:t>
            </a:r>
          </a:p>
          <a:p>
            <a:pPr lvl="1"/>
            <a:r>
              <a:rPr lang="en-US" sz="1800" dirty="0"/>
              <a:t>each aspect can be studied in isolation (also called separation of concerns)</a:t>
            </a:r>
          </a:p>
          <a:p>
            <a:r>
              <a:rPr lang="en-US" sz="2000" dirty="0"/>
              <a:t>If the principle is applied well, each resulting module will have a single purpose and will be relatively independent of the others</a:t>
            </a:r>
          </a:p>
          <a:p>
            <a:pPr lvl="1"/>
            <a:r>
              <a:rPr lang="en-US" sz="2000" dirty="0"/>
              <a:t>each module will be easy to understand and develop</a:t>
            </a:r>
          </a:p>
          <a:p>
            <a:pPr lvl="1"/>
            <a:r>
              <a:rPr lang="en-US" sz="2000" dirty="0"/>
              <a:t>easier to locate faults </a:t>
            </a:r>
          </a:p>
          <a:p>
            <a:pPr lvl="2"/>
            <a:r>
              <a:rPr lang="en-US" sz="1700" dirty="0"/>
              <a:t>because there are fewer suspect modules per fault</a:t>
            </a:r>
          </a:p>
          <a:p>
            <a:pPr lvl="1"/>
            <a:r>
              <a:rPr lang="en-US" sz="2000" dirty="0"/>
              <a:t>Easier to change the system </a:t>
            </a:r>
          </a:p>
          <a:p>
            <a:pPr lvl="2"/>
            <a:r>
              <a:rPr lang="en-US" sz="1700" dirty="0"/>
              <a:t>because a change to one module affects relatively few other modules</a:t>
            </a:r>
          </a:p>
          <a:p>
            <a:r>
              <a:rPr lang="en-US" sz="2000" dirty="0"/>
              <a:t>To determine how well a design separates concerns, we use two concepts that measure module independence: coupling and cohesion</a:t>
            </a:r>
          </a:p>
        </p:txBody>
      </p:sp>
      <p:sp>
        <p:nvSpPr>
          <p:cNvPr id="2" name="TextBox 1"/>
          <p:cNvSpPr txBox="1"/>
          <p:nvPr/>
        </p:nvSpPr>
        <p:spPr>
          <a:xfrm rot="19902309">
            <a:off x="8654605" y="3563035"/>
            <a:ext cx="262729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Single responsibility principle</a:t>
            </a:r>
          </a:p>
        </p:txBody>
      </p:sp>
    </p:spTree>
    <p:extLst>
      <p:ext uri="{BB962C8B-B14F-4D97-AF65-F5344CB8AC3E}">
        <p14:creationId xmlns:p14="http://schemas.microsoft.com/office/powerpoint/2010/main" val="37446287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Modularity: </a:t>
            </a:r>
            <a:r>
              <a:rPr lang="en-US" sz="3600" dirty="0"/>
              <a:t>coupling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1655762"/>
            <a:ext cx="8220075" cy="4668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Two modules are </a:t>
            </a:r>
            <a:r>
              <a:rPr lang="en-US" sz="2400" b="1"/>
              <a:t>tightly coupled </a:t>
            </a:r>
            <a:r>
              <a:rPr lang="en-US" sz="2400"/>
              <a:t>when they depend a great deal on each other</a:t>
            </a:r>
          </a:p>
          <a:p>
            <a:r>
              <a:rPr lang="en-US" sz="2400" b="1"/>
              <a:t>Loosely coupled </a:t>
            </a:r>
            <a:r>
              <a:rPr lang="en-US" sz="2400"/>
              <a:t>modules have some dependence, but their interconnections are weak</a:t>
            </a:r>
          </a:p>
          <a:p>
            <a:r>
              <a:rPr lang="en-US" sz="2400" b="1"/>
              <a:t>Uncoupled</a:t>
            </a:r>
            <a:r>
              <a:rPr lang="en-US" sz="2400"/>
              <a:t> modules have no interconnections at all; they are completely unrelated</a:t>
            </a:r>
            <a:endParaRPr lang="en-US" sz="2400" dirty="0"/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6400800" y="4338637"/>
            <a:ext cx="876300" cy="520700"/>
          </a:xfrm>
          <a:prstGeom prst="rect">
            <a:avLst/>
          </a:prstGeom>
          <a:solidFill>
            <a:srgbClr val="E7C4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7734300" y="4338637"/>
            <a:ext cx="876300" cy="520700"/>
          </a:xfrm>
          <a:prstGeom prst="rect">
            <a:avLst/>
          </a:prstGeom>
          <a:solidFill>
            <a:srgbClr val="E7C4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7734300" y="5202237"/>
            <a:ext cx="876300" cy="520700"/>
          </a:xfrm>
          <a:prstGeom prst="rect">
            <a:avLst/>
          </a:prstGeom>
          <a:solidFill>
            <a:srgbClr val="E7C4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6400800" y="5202237"/>
            <a:ext cx="876300" cy="520700"/>
          </a:xfrm>
          <a:prstGeom prst="rect">
            <a:avLst/>
          </a:prstGeom>
          <a:solidFill>
            <a:srgbClr val="E7C4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H="1">
            <a:off x="7277100" y="4529137"/>
            <a:ext cx="469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flipH="1">
            <a:off x="7277100" y="4745037"/>
            <a:ext cx="469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7264400" y="4618037"/>
            <a:ext cx="469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 flipH="1">
            <a:off x="7277100" y="5430837"/>
            <a:ext cx="469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7277100" y="5621337"/>
            <a:ext cx="469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 flipH="1">
            <a:off x="7277100" y="5519737"/>
            <a:ext cx="469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 flipH="1">
            <a:off x="7124700" y="4821237"/>
            <a:ext cx="6223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 flipH="1">
            <a:off x="7261225" y="4859337"/>
            <a:ext cx="574675" cy="3508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 rot="10800000" flipH="1">
            <a:off x="7264400" y="4872037"/>
            <a:ext cx="71120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>
            <a:off x="8140700" y="4872037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>
            <a:off x="8267700" y="4872037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 rot="10800000" flipH="1">
            <a:off x="8407400" y="4872037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 rot="10800000" flipH="1">
            <a:off x="8534400" y="4872037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>
            <a:off x="6527800" y="4872037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>
            <a:off x="6654800" y="4872037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>
            <a:off x="6794500" y="4872037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" name="Line 25"/>
          <p:cNvSpPr>
            <a:spLocks noChangeShapeType="1"/>
          </p:cNvSpPr>
          <p:nvPr/>
        </p:nvSpPr>
        <p:spPr bwMode="auto">
          <a:xfrm rot="10800000" flipH="1">
            <a:off x="6959600" y="4872037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41"/>
          <p:cNvSpPr>
            <a:spLocks/>
          </p:cNvSpPr>
          <p:nvPr/>
        </p:nvSpPr>
        <p:spPr bwMode="auto">
          <a:xfrm>
            <a:off x="6826250" y="5959475"/>
            <a:ext cx="1350963" cy="3651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200">
                <a:latin typeface="Comic Sans MS" pitchFamily="66" charset="0"/>
                <a:sym typeface="Comic Sans MS" pitchFamily="66" charset="0"/>
              </a:rPr>
              <a:t>Tightly coupled -</a:t>
            </a:r>
          </a:p>
          <a:p>
            <a:pPr algn="ctr"/>
            <a:r>
              <a:rPr lang="en-US" sz="1200">
                <a:latin typeface="Comic Sans MS" pitchFamily="66" charset="0"/>
                <a:sym typeface="Comic Sans MS" pitchFamily="66" charset="0"/>
              </a:rPr>
              <a:t>many dependencies</a:t>
            </a:r>
          </a:p>
        </p:txBody>
      </p:sp>
      <p:sp>
        <p:nvSpPr>
          <p:cNvPr id="28" name="Rectangle 26"/>
          <p:cNvSpPr>
            <a:spLocks/>
          </p:cNvSpPr>
          <p:nvPr/>
        </p:nvSpPr>
        <p:spPr bwMode="auto">
          <a:xfrm>
            <a:off x="3771900" y="4313237"/>
            <a:ext cx="876300" cy="520700"/>
          </a:xfrm>
          <a:prstGeom prst="rect">
            <a:avLst/>
          </a:prstGeom>
          <a:solidFill>
            <a:srgbClr val="E7C4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" name="Rectangle 27"/>
          <p:cNvSpPr>
            <a:spLocks/>
          </p:cNvSpPr>
          <p:nvPr/>
        </p:nvSpPr>
        <p:spPr bwMode="auto">
          <a:xfrm>
            <a:off x="5105400" y="4313237"/>
            <a:ext cx="876300" cy="520700"/>
          </a:xfrm>
          <a:prstGeom prst="rect">
            <a:avLst/>
          </a:prstGeom>
          <a:solidFill>
            <a:srgbClr val="E7C4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Rectangle 28"/>
          <p:cNvSpPr>
            <a:spLocks/>
          </p:cNvSpPr>
          <p:nvPr/>
        </p:nvSpPr>
        <p:spPr bwMode="auto">
          <a:xfrm>
            <a:off x="5105400" y="5176837"/>
            <a:ext cx="876300" cy="520700"/>
          </a:xfrm>
          <a:prstGeom prst="rect">
            <a:avLst/>
          </a:prstGeom>
          <a:solidFill>
            <a:srgbClr val="E7C4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" name="Rectangle 29"/>
          <p:cNvSpPr>
            <a:spLocks/>
          </p:cNvSpPr>
          <p:nvPr/>
        </p:nvSpPr>
        <p:spPr bwMode="auto">
          <a:xfrm>
            <a:off x="3771900" y="5176837"/>
            <a:ext cx="876300" cy="520700"/>
          </a:xfrm>
          <a:prstGeom prst="rect">
            <a:avLst/>
          </a:prstGeom>
          <a:solidFill>
            <a:srgbClr val="E7C4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 flipH="1">
            <a:off x="4648200" y="4503737"/>
            <a:ext cx="469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4648200" y="5494337"/>
            <a:ext cx="469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5384800" y="4846637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rot="10800000" flipH="1">
            <a:off x="5778500" y="4846637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" name="Line 34"/>
          <p:cNvSpPr>
            <a:spLocks noChangeShapeType="1"/>
          </p:cNvSpPr>
          <p:nvPr/>
        </p:nvSpPr>
        <p:spPr bwMode="auto">
          <a:xfrm>
            <a:off x="3949700" y="4846637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" name="Line 35"/>
          <p:cNvSpPr>
            <a:spLocks noChangeShapeType="1"/>
          </p:cNvSpPr>
          <p:nvPr/>
        </p:nvSpPr>
        <p:spPr bwMode="auto">
          <a:xfrm rot="10800000" flipH="1">
            <a:off x="4381500" y="4846637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42"/>
          <p:cNvSpPr>
            <a:spLocks/>
          </p:cNvSpPr>
          <p:nvPr/>
        </p:nvSpPr>
        <p:spPr bwMode="auto">
          <a:xfrm>
            <a:off x="4210050" y="5934075"/>
            <a:ext cx="1350963" cy="3651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200">
                <a:latin typeface="Comic Sans MS" pitchFamily="66" charset="0"/>
                <a:sym typeface="Comic Sans MS" pitchFamily="66" charset="0"/>
              </a:rPr>
              <a:t>Loosely coupled -</a:t>
            </a:r>
          </a:p>
          <a:p>
            <a:pPr algn="ctr"/>
            <a:r>
              <a:rPr lang="en-US" sz="1200">
                <a:latin typeface="Comic Sans MS" pitchFamily="66" charset="0"/>
                <a:sym typeface="Comic Sans MS" pitchFamily="66" charset="0"/>
              </a:rPr>
              <a:t>some dependencies</a:t>
            </a:r>
          </a:p>
        </p:txBody>
      </p:sp>
      <p:sp>
        <p:nvSpPr>
          <p:cNvPr id="39" name="Rectangle 36"/>
          <p:cNvSpPr>
            <a:spLocks/>
          </p:cNvSpPr>
          <p:nvPr/>
        </p:nvSpPr>
        <p:spPr bwMode="auto">
          <a:xfrm>
            <a:off x="1066800" y="4325937"/>
            <a:ext cx="876300" cy="520700"/>
          </a:xfrm>
          <a:prstGeom prst="rect">
            <a:avLst/>
          </a:prstGeom>
          <a:solidFill>
            <a:srgbClr val="E7C4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0" name="Rectangle 37"/>
          <p:cNvSpPr>
            <a:spLocks/>
          </p:cNvSpPr>
          <p:nvPr/>
        </p:nvSpPr>
        <p:spPr bwMode="auto">
          <a:xfrm>
            <a:off x="2349500" y="4325937"/>
            <a:ext cx="876300" cy="520700"/>
          </a:xfrm>
          <a:prstGeom prst="rect">
            <a:avLst/>
          </a:prstGeom>
          <a:solidFill>
            <a:srgbClr val="E7C4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" name="Rectangle 38"/>
          <p:cNvSpPr>
            <a:spLocks/>
          </p:cNvSpPr>
          <p:nvPr/>
        </p:nvSpPr>
        <p:spPr bwMode="auto">
          <a:xfrm>
            <a:off x="2349500" y="5100637"/>
            <a:ext cx="876300" cy="520700"/>
          </a:xfrm>
          <a:prstGeom prst="rect">
            <a:avLst/>
          </a:prstGeom>
          <a:solidFill>
            <a:srgbClr val="E7C4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2" name="Rectangle 39"/>
          <p:cNvSpPr>
            <a:spLocks/>
          </p:cNvSpPr>
          <p:nvPr/>
        </p:nvSpPr>
        <p:spPr bwMode="auto">
          <a:xfrm>
            <a:off x="1066800" y="5100637"/>
            <a:ext cx="876300" cy="520700"/>
          </a:xfrm>
          <a:prstGeom prst="rect">
            <a:avLst/>
          </a:prstGeom>
          <a:solidFill>
            <a:srgbClr val="E7C4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" name="Rectangle 40"/>
          <p:cNvSpPr>
            <a:spLocks/>
          </p:cNvSpPr>
          <p:nvPr/>
        </p:nvSpPr>
        <p:spPr bwMode="auto">
          <a:xfrm>
            <a:off x="1600200" y="5862637"/>
            <a:ext cx="1154113" cy="3651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200">
                <a:latin typeface="Comic Sans MS" pitchFamily="66" charset="0"/>
                <a:sym typeface="Comic Sans MS" pitchFamily="66" charset="0"/>
              </a:rPr>
              <a:t>Uncoupled -</a:t>
            </a:r>
          </a:p>
          <a:p>
            <a:pPr algn="ctr"/>
            <a:r>
              <a:rPr lang="en-US" sz="1200">
                <a:latin typeface="Comic Sans MS" pitchFamily="66" charset="0"/>
                <a:sym typeface="Comic Sans MS" pitchFamily="66" charset="0"/>
              </a:rPr>
              <a:t>no dependencies</a:t>
            </a:r>
          </a:p>
        </p:txBody>
      </p:sp>
    </p:spTree>
    <p:extLst>
      <p:ext uri="{BB962C8B-B14F-4D97-AF65-F5344CB8AC3E}">
        <p14:creationId xmlns:p14="http://schemas.microsoft.com/office/powerpoint/2010/main" val="59640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8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Coupling</a:t>
            </a:r>
          </a:p>
          <a:p>
            <a:pPr lvl="1"/>
            <a:r>
              <a:rPr lang="en-US" dirty="0"/>
              <a:t>Control</a:t>
            </a:r>
          </a:p>
          <a:p>
            <a:pPr lvl="1"/>
            <a:r>
              <a:rPr lang="en-US" dirty="0"/>
              <a:t>Common</a:t>
            </a:r>
          </a:p>
          <a:p>
            <a:pPr lvl="1"/>
            <a:r>
              <a:rPr lang="en-US" dirty="0"/>
              <a:t>Routine call</a:t>
            </a:r>
          </a:p>
          <a:p>
            <a:pPr lvl="1"/>
            <a:r>
              <a:rPr lang="en-US" dirty="0"/>
              <a:t>Data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Content coupling</a:t>
            </a:r>
          </a:p>
          <a:p>
            <a:pPr lvl="1"/>
            <a:r>
              <a:rPr lang="en-US" dirty="0"/>
              <a:t>Type-Use</a:t>
            </a:r>
          </a:p>
          <a:p>
            <a:pPr lvl="1"/>
            <a:r>
              <a:rPr lang="en-US" dirty="0"/>
              <a:t>Stamp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Import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997003" y="314721"/>
            <a:ext cx="6993228" cy="275193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act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call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08B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 Calling act() by passing a value which controls its flow: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act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997003" y="3171414"/>
            <a:ext cx="6993228" cy="321359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08B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 Code for class A.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08B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 Data member of class A type: Type-use coupling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A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08B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 Argument of type A: Stamp coupling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calculate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 data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08B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 Do something.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18256" y="2223431"/>
            <a:ext cx="3914775" cy="3629025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7227731" y="6338697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High coupling is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NOT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desired</a:t>
            </a:r>
          </a:p>
        </p:txBody>
      </p:sp>
      <p:sp>
        <p:nvSpPr>
          <p:cNvPr id="11" name="Oval 10"/>
          <p:cNvSpPr/>
          <p:nvPr/>
        </p:nvSpPr>
        <p:spPr>
          <a:xfrm>
            <a:off x="9018431" y="4128431"/>
            <a:ext cx="1219200" cy="990600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9018431" y="2736928"/>
            <a:ext cx="1219200" cy="990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9094631" y="3643083"/>
            <a:ext cx="1066800" cy="589697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0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>
            <a:spLocks noGrp="1" noChangeArrowheads="1"/>
          </p:cNvSpPr>
          <p:nvPr>
            <p:ph type="title"/>
          </p:nvPr>
        </p:nvSpPr>
        <p:spPr>
          <a:xfrm>
            <a:off x="1981201" y="388938"/>
            <a:ext cx="8220075" cy="113506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Modularity: </a:t>
            </a:r>
            <a:r>
              <a:rPr lang="en-US" sz="2800" dirty="0"/>
              <a:t>Coupling: Content Coupling</a:t>
            </a:r>
            <a:endParaRPr lang="en-US" dirty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idx="1"/>
          </p:nvPr>
        </p:nvSpPr>
        <p:spPr>
          <a:xfrm>
            <a:off x="824248" y="1663700"/>
            <a:ext cx="9369090" cy="4660900"/>
          </a:xfrm>
        </p:spPr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One component modifies an internal data item of another component, a component (e.g. B) branches into another component (e.g. D)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Set a private data member of another module?</a:t>
            </a:r>
            <a:endParaRPr lang="en-GB" sz="2400" dirty="0"/>
          </a:p>
        </p:txBody>
      </p:sp>
      <p:pic>
        <p:nvPicPr>
          <p:cNvPr id="15364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3505200"/>
            <a:ext cx="2514600" cy="183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5" name="Rectangle 3"/>
          <p:cNvSpPr>
            <a:spLocks/>
          </p:cNvSpPr>
          <p:nvPr/>
        </p:nvSpPr>
        <p:spPr bwMode="auto">
          <a:xfrm>
            <a:off x="5029200" y="3936152"/>
            <a:ext cx="2438400" cy="204004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88900" tIns="88900" rIns="88900" bIns="88900" anchor="ctr">
            <a:spAutoFit/>
          </a:bodyPr>
          <a:lstStyle/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Module B</a:t>
            </a:r>
          </a:p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 </a:t>
            </a:r>
          </a:p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4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r>
              <a:rPr lang="en-US" sz="1300" dirty="0" err="1">
                <a:latin typeface="Comic Sans MS" pitchFamily="66" charset="0"/>
                <a:sym typeface="Comic Sans MS" pitchFamily="66" charset="0"/>
              </a:rPr>
              <a:t>Goto</a:t>
            </a:r>
            <a:r>
              <a:rPr lang="en-US" sz="1300" dirty="0">
                <a:latin typeface="Comic Sans MS" pitchFamily="66" charset="0"/>
                <a:sym typeface="Comic Sans MS" pitchFamily="66" charset="0"/>
              </a:rPr>
              <a:t> D1</a:t>
            </a:r>
          </a:p>
          <a:p>
            <a:pPr>
              <a:buFont typeface="Lucida Sans Unicode" pitchFamily="34" charset="0"/>
              <a:buNone/>
            </a:pPr>
            <a:endParaRPr lang="en-US" sz="1300" dirty="0">
              <a:latin typeface="Comic Sans MS" pitchFamily="66" charset="0"/>
              <a:sym typeface="Comic Sans MS" pitchFamily="66" charset="0"/>
            </a:endParaRPr>
          </a:p>
          <a:p>
            <a:pPr>
              <a:lnSpc>
                <a:spcPct val="5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5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5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 </a:t>
            </a:r>
          </a:p>
          <a:p>
            <a:pPr>
              <a:lnSpc>
                <a:spcPct val="5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5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5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5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 </a:t>
            </a:r>
          </a:p>
          <a:p>
            <a:pPr>
              <a:lnSpc>
                <a:spcPct val="5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50000"/>
              </a:lnSpc>
              <a:buFont typeface="Lucida Sans Unicode" pitchFamily="34" charset="0"/>
              <a:buNone/>
            </a:pPr>
            <a:endParaRPr lang="en-US" sz="1300" dirty="0">
              <a:latin typeface="Comic Sans MS" pitchFamily="66" charset="0"/>
              <a:sym typeface="Comic Sans MS" pitchFamily="66" charset="0"/>
            </a:endParaRPr>
          </a:p>
        </p:txBody>
      </p:sp>
      <p:sp>
        <p:nvSpPr>
          <p:cNvPr id="15366" name="Rectangle 4"/>
          <p:cNvSpPr>
            <a:spLocks/>
          </p:cNvSpPr>
          <p:nvPr/>
        </p:nvSpPr>
        <p:spPr bwMode="auto">
          <a:xfrm>
            <a:off x="8153400" y="4255424"/>
            <a:ext cx="2057400" cy="1699953"/>
          </a:xfrm>
          <a:prstGeom prst="rect">
            <a:avLst/>
          </a:prstGeom>
          <a:noFill/>
          <a:ln w="12700">
            <a:solidFill>
              <a:srgbClr val="0F2F4B"/>
            </a:solidFill>
            <a:miter lim="800000"/>
            <a:headEnd/>
            <a:tailEnd/>
          </a:ln>
        </p:spPr>
        <p:txBody>
          <a:bodyPr lIns="88900" tIns="88900" rIns="88900" bIns="88900" anchor="ctr">
            <a:spAutoFit/>
          </a:bodyPr>
          <a:lstStyle/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Module D</a:t>
            </a:r>
          </a:p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 </a:t>
            </a:r>
          </a:p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D1:</a:t>
            </a:r>
          </a:p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 </a:t>
            </a:r>
          </a:p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60000"/>
              </a:lnSpc>
              <a:buFont typeface="Lucida Sans Unicode" pitchFamily="34" charset="0"/>
              <a:buNone/>
            </a:pPr>
            <a:r>
              <a:rPr lang="en-US" sz="1300" dirty="0">
                <a:latin typeface="Comic Sans MS" pitchFamily="66" charset="0"/>
                <a:sym typeface="Comic Sans MS" pitchFamily="66" charset="0"/>
              </a:rPr>
              <a:t>_________________</a:t>
            </a:r>
          </a:p>
          <a:p>
            <a:pPr>
              <a:lnSpc>
                <a:spcPct val="40000"/>
              </a:lnSpc>
              <a:buFont typeface="Lucida Sans Unicode" pitchFamily="34" charset="0"/>
              <a:buNone/>
            </a:pPr>
            <a:endParaRPr lang="en-US" sz="1300" dirty="0">
              <a:latin typeface="Comic Sans MS" pitchFamily="66" charset="0"/>
              <a:sym typeface="Comic Sans MS" pitchFamily="66" charset="0"/>
            </a:endParaRPr>
          </a:p>
        </p:txBody>
      </p:sp>
      <p:sp>
        <p:nvSpPr>
          <p:cNvPr id="15367" name="Line 5"/>
          <p:cNvSpPr>
            <a:spLocks noChangeShapeType="1"/>
          </p:cNvSpPr>
          <p:nvPr/>
        </p:nvSpPr>
        <p:spPr bwMode="auto">
          <a:xfrm flipH="1">
            <a:off x="5724525" y="5443538"/>
            <a:ext cx="2451100" cy="0"/>
          </a:xfrm>
          <a:prstGeom prst="line">
            <a:avLst/>
          </a:prstGeom>
          <a:noFill/>
          <a:ln w="38100">
            <a:solidFill>
              <a:srgbClr val="0F2F4B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8" name="Line 6"/>
          <p:cNvSpPr>
            <a:spLocks noChangeShapeType="1"/>
          </p:cNvSpPr>
          <p:nvPr/>
        </p:nvSpPr>
        <p:spPr bwMode="auto">
          <a:xfrm flipH="1">
            <a:off x="6130925" y="5214938"/>
            <a:ext cx="2032000" cy="0"/>
          </a:xfrm>
          <a:prstGeom prst="line">
            <a:avLst/>
          </a:prstGeom>
          <a:noFill/>
          <a:ln w="38100">
            <a:solidFill>
              <a:srgbClr val="0F2F4B"/>
            </a:solidFill>
            <a:prstDash val="dash"/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8626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Grp="1" noChangeArrowheads="1"/>
          </p:cNvSpPr>
          <p:nvPr>
            <p:ph type="title"/>
          </p:nvPr>
        </p:nvSpPr>
        <p:spPr>
          <a:xfrm>
            <a:off x="1981201" y="388938"/>
            <a:ext cx="8220075" cy="113506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Modularity: </a:t>
            </a:r>
            <a:r>
              <a:rPr lang="en-US" sz="2800" dirty="0"/>
              <a:t>Coupling: Common Coupling</a:t>
            </a:r>
            <a:endParaRPr lang="en-US" dirty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idx="1"/>
          </p:nvPr>
        </p:nvSpPr>
        <p:spPr>
          <a:xfrm>
            <a:off x="463639" y="1447800"/>
            <a:ext cx="4489361" cy="4660900"/>
          </a:xfrm>
        </p:spPr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Dependency due to common data. Which component is responsible to set a particular value for the common variable?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000" dirty="0"/>
              <a:t>Tracing back to all components that access those data to evaluate the effect of the change</a:t>
            </a:r>
          </a:p>
        </p:txBody>
      </p:sp>
      <p:pic>
        <p:nvPicPr>
          <p:cNvPr id="1638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2600325"/>
            <a:ext cx="5334000" cy="358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0856161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>
          <a:xfrm>
            <a:off x="1981201" y="388938"/>
            <a:ext cx="8220075" cy="113506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Modularity: </a:t>
            </a:r>
            <a:r>
              <a:rPr lang="en-US" sz="2800" dirty="0"/>
              <a:t>Coupling: Control Coupling</a:t>
            </a:r>
            <a:endParaRPr lang="en-US" dirty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idx="1"/>
          </p:nvPr>
        </p:nvSpPr>
        <p:spPr>
          <a:xfrm>
            <a:off x="437882" y="1447800"/>
            <a:ext cx="9755456" cy="4660900"/>
          </a:xfrm>
        </p:spPr>
        <p:txBody>
          <a:bodyPr/>
          <a:lstStyle/>
          <a:p>
            <a:pPr lvl="1">
              <a:defRPr/>
            </a:pPr>
            <a:r>
              <a:rPr lang="en-US" dirty="0"/>
              <a:t>One component passes parameters to control the activity of another component </a:t>
            </a:r>
          </a:p>
          <a:p>
            <a:pPr lvl="1">
              <a:defRPr/>
            </a:pPr>
            <a:r>
              <a:rPr lang="en-US" dirty="0"/>
              <a:t>The controlled component cannot function without direction from the controlling component</a:t>
            </a:r>
          </a:p>
          <a:p>
            <a:pPr lvl="1">
              <a:defRPr/>
            </a:pPr>
            <a:r>
              <a:rPr lang="en-US" dirty="0"/>
              <a:t>Make each component perform only one function</a:t>
            </a:r>
            <a:endParaRPr lang="en-GB" dirty="0"/>
          </a:p>
        </p:txBody>
      </p:sp>
      <p:pic>
        <p:nvPicPr>
          <p:cNvPr id="4" name="Picture 3"/>
          <p:cNvPicPr/>
          <p:nvPr/>
        </p:nvPicPr>
        <p:blipFill rotWithShape="1">
          <a:blip r:embed="rId3"/>
          <a:srcRect l="20247" t="31107" r="29284" b="9158"/>
          <a:stretch/>
        </p:blipFill>
        <p:spPr bwMode="auto">
          <a:xfrm>
            <a:off x="5741832" y="2582863"/>
            <a:ext cx="5682615" cy="39751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482933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>
          <a:xfrm>
            <a:off x="1981201" y="388938"/>
            <a:ext cx="8220075" cy="113506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Modularity: </a:t>
            </a:r>
            <a:r>
              <a:rPr lang="en-US" sz="2800" dirty="0"/>
              <a:t>Coupling: Stamp and Data Coupling</a:t>
            </a:r>
            <a:endParaRPr lang="en-US" dirty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idx="1"/>
          </p:nvPr>
        </p:nvSpPr>
        <p:spPr>
          <a:xfrm>
            <a:off x="476518" y="1752600"/>
            <a:ext cx="9716820" cy="4261834"/>
          </a:xfrm>
        </p:spPr>
        <p:txBody>
          <a:bodyPr/>
          <a:lstStyle/>
          <a:p>
            <a:r>
              <a:rPr lang="en-US" sz="2400" b="1" dirty="0"/>
              <a:t>Stamp coupling </a:t>
            </a:r>
            <a:r>
              <a:rPr lang="en-US" sz="2400" dirty="0"/>
              <a:t>occurs when complex data structures are passed between modules</a:t>
            </a:r>
          </a:p>
          <a:p>
            <a:pPr lvl="1"/>
            <a:r>
              <a:rPr lang="en-US" sz="1800" dirty="0"/>
              <a:t>Stamp coupling represents a more complex interface between modules, because the modules have to agree on the data’s format and organization</a:t>
            </a:r>
          </a:p>
          <a:p>
            <a:r>
              <a:rPr lang="en-US" sz="2400" dirty="0"/>
              <a:t>If only data values, and not structured data, are passed, then the modules are connected by </a:t>
            </a:r>
            <a:r>
              <a:rPr lang="en-US" sz="2400" b="1" dirty="0"/>
              <a:t>data coupling</a:t>
            </a:r>
          </a:p>
          <a:p>
            <a:pPr lvl="1"/>
            <a:r>
              <a:rPr lang="en-US" sz="1800" dirty="0"/>
              <a:t>Data coupling is simpler and less likely to be affected by changes in data representation</a:t>
            </a:r>
          </a:p>
          <a:p>
            <a:pPr lvl="1"/>
            <a:r>
              <a:rPr lang="en-US" sz="1800" dirty="0"/>
              <a:t>Only data value is passed from one component to another</a:t>
            </a:r>
          </a:p>
          <a:p>
            <a:pPr lvl="1">
              <a:defRPr/>
            </a:pPr>
            <a:r>
              <a:rPr lang="en-US" sz="1800" dirty="0"/>
              <a:t>Easiest to trace data and make changes </a:t>
            </a:r>
          </a:p>
          <a:p>
            <a:pPr lvl="1"/>
            <a:endParaRPr lang="en-GB" sz="4800" dirty="0"/>
          </a:p>
        </p:txBody>
      </p:sp>
      <p:sp>
        <p:nvSpPr>
          <p:cNvPr id="6" name="TextBox 5"/>
          <p:cNvSpPr txBox="1"/>
          <p:nvPr/>
        </p:nvSpPr>
        <p:spPr>
          <a:xfrm>
            <a:off x="2647157" y="6314420"/>
            <a:ext cx="607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>
                <a:cs typeface="Arial" panose="020B0604020202020204" pitchFamily="34" charset="0"/>
              </a:rPr>
              <a:t>See Pressman for Type Use coupling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091238" y="2854672"/>
            <a:ext cx="5400675" cy="3629025"/>
            <a:chOff x="3276600" y="2590800"/>
            <a:chExt cx="5400675" cy="3629025"/>
          </a:xfrm>
        </p:grpSpPr>
        <p:pic>
          <p:nvPicPr>
            <p:cNvPr id="4" name="Picture 3"/>
            <p:cNvPicPr/>
            <p:nvPr/>
          </p:nvPicPr>
          <p:blipFill rotWithShape="1">
            <a:blip r:embed="rId3"/>
            <a:srcRect l="20247" t="31107" r="29284" b="9158"/>
            <a:stretch/>
          </p:blipFill>
          <p:spPr bwMode="auto">
            <a:xfrm>
              <a:off x="3276600" y="2590800"/>
              <a:ext cx="5400675" cy="362902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grpSp>
          <p:nvGrpSpPr>
            <p:cNvPr id="3" name="Group 2"/>
            <p:cNvGrpSpPr/>
            <p:nvPr/>
          </p:nvGrpSpPr>
          <p:grpSpPr>
            <a:xfrm>
              <a:off x="3657600" y="3429000"/>
              <a:ext cx="2319337" cy="1752600"/>
              <a:chOff x="3657600" y="3429000"/>
              <a:chExt cx="2319337" cy="1752600"/>
            </a:xfrm>
          </p:grpSpPr>
          <p:sp>
            <p:nvSpPr>
              <p:cNvPr id="2" name="Oval 1"/>
              <p:cNvSpPr/>
              <p:nvPr/>
            </p:nvSpPr>
            <p:spPr>
              <a:xfrm>
                <a:off x="3657600" y="3429000"/>
                <a:ext cx="990600" cy="15240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4986337" y="5029200"/>
                <a:ext cx="990600" cy="15240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4536897" y="3757612"/>
                <a:ext cx="990600" cy="15240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11825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394652" cy="4351338"/>
          </a:xfrm>
        </p:spPr>
        <p:txBody>
          <a:bodyPr/>
          <a:lstStyle/>
          <a:p>
            <a:r>
              <a:rPr lang="en-US" dirty="0"/>
              <a:t>Cohesion</a:t>
            </a:r>
          </a:p>
          <a:p>
            <a:pPr lvl="1"/>
            <a:r>
              <a:rPr lang="en-US" dirty="0"/>
              <a:t>Measure of degree of independence of a module</a:t>
            </a:r>
          </a:p>
          <a:p>
            <a:pPr lvl="1"/>
            <a:r>
              <a:rPr lang="en-US" dirty="0"/>
              <a:t>To what degree does the internal elements of a module are related</a:t>
            </a:r>
          </a:p>
          <a:p>
            <a:pPr lvl="2"/>
            <a:r>
              <a:rPr lang="en-US" dirty="0"/>
              <a:t>E.g. data, functions etc.</a:t>
            </a:r>
          </a:p>
          <a:p>
            <a:pPr lvl="1"/>
            <a:r>
              <a:rPr lang="en-US" dirty="0"/>
              <a:t>All elements contribute in performing a single task assigned to the module</a:t>
            </a:r>
          </a:p>
          <a:p>
            <a:pPr lvl="1"/>
            <a:r>
              <a:rPr lang="en-US" dirty="0"/>
              <a:t>High cohesion is desired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7232852" y="2570162"/>
            <a:ext cx="3868737" cy="3208338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224789" y="5788680"/>
            <a:ext cx="6172200" cy="5232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buNone/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Low cohesion is not desired</a:t>
            </a:r>
          </a:p>
        </p:txBody>
      </p:sp>
    </p:spTree>
    <p:extLst>
      <p:ext uri="{BB962C8B-B14F-4D97-AF65-F5344CB8AC3E}">
        <p14:creationId xmlns:p14="http://schemas.microsoft.com/office/powerpoint/2010/main" val="366020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6834" y="1724026"/>
            <a:ext cx="6863366" cy="5031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"/>
          <p:cNvSpPr>
            <a:spLocks noGrp="1" noChangeArrowheads="1"/>
          </p:cNvSpPr>
          <p:nvPr>
            <p:ph type="title"/>
          </p:nvPr>
        </p:nvSpPr>
        <p:spPr>
          <a:xfrm>
            <a:off x="1981201" y="388938"/>
            <a:ext cx="8220075" cy="113506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Modularity: </a:t>
            </a:r>
            <a:r>
              <a:rPr lang="en-US" sz="2800" dirty="0"/>
              <a:t>Cohesion: Types of Cohesion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0324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Modularity: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631833" cy="4351338"/>
          </a:xfrm>
        </p:spPr>
        <p:txBody>
          <a:bodyPr/>
          <a:lstStyle/>
          <a:p>
            <a:r>
              <a:rPr lang="en-US" dirty="0"/>
              <a:t>Over modularization vs under modularization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033" y="1825625"/>
            <a:ext cx="5883767" cy="42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96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Separation of Concerns &amp; Modularity (Revisited)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Intellectual control</a:t>
            </a:r>
          </a:p>
          <a:p>
            <a:r>
              <a:rPr lang="en-US" dirty="0"/>
              <a:t>Independent parts</a:t>
            </a:r>
          </a:p>
          <a:p>
            <a:r>
              <a:rPr lang="en-US" dirty="0"/>
              <a:t>7 ± 2 Rule</a:t>
            </a: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666"/>
          <a:stretch>
            <a:fillRect/>
          </a:stretch>
        </p:blipFill>
        <p:spPr bwMode="auto">
          <a:xfrm>
            <a:off x="6804338" y="2052034"/>
            <a:ext cx="4286250" cy="358616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752305" y="6176963"/>
            <a:ext cx="4636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Chapter 3 of </a:t>
            </a:r>
            <a:r>
              <a:rPr lang="en-US" dirty="0" err="1"/>
              <a:t>Ghezzi</a:t>
            </a:r>
            <a:r>
              <a:rPr lang="en-US" dirty="0"/>
              <a:t>, Chapter 2 of Hamlet</a:t>
            </a:r>
          </a:p>
        </p:txBody>
      </p:sp>
    </p:spTree>
    <p:extLst>
      <p:ext uri="{BB962C8B-B14F-4D97-AF65-F5344CB8AC3E}">
        <p14:creationId xmlns:p14="http://schemas.microsoft.com/office/powerpoint/2010/main" val="71948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 book by </a:t>
            </a:r>
            <a:r>
              <a:rPr lang="en-US" dirty="0" err="1"/>
              <a:t>Ghezzi</a:t>
            </a:r>
            <a:endParaRPr lang="en-US" dirty="0"/>
          </a:p>
          <a:p>
            <a:r>
              <a:rPr lang="en-US" dirty="0"/>
              <a:t>SE book by Hamlet</a:t>
            </a:r>
          </a:p>
          <a:p>
            <a:r>
              <a:rPr lang="en-US" dirty="0"/>
              <a:t>SE book by </a:t>
            </a:r>
            <a:r>
              <a:rPr lang="en-US" dirty="0" err="1"/>
              <a:t>Pfleeger</a:t>
            </a:r>
            <a:endParaRPr lang="en-US" dirty="0"/>
          </a:p>
          <a:p>
            <a:r>
              <a:rPr lang="en-US" dirty="0"/>
              <a:t>SE book by Pressman</a:t>
            </a:r>
          </a:p>
          <a:p>
            <a:r>
              <a:rPr lang="en-US" dirty="0">
                <a:hlinkClick r:id="rId2"/>
              </a:rPr>
              <a:t>https://www.educative.io/edpresso/what-are-the-different-types-of-coupling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670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16490</TotalTime>
  <Words>713</Words>
  <Application>Microsoft Office PowerPoint</Application>
  <PresentationFormat>Widescreen</PresentationFormat>
  <Paragraphs>155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Comic Sans MS</vt:lpstr>
      <vt:lpstr>Courier New</vt:lpstr>
      <vt:lpstr>Lucida Sans Unicode</vt:lpstr>
      <vt:lpstr>Office Theme</vt:lpstr>
      <vt:lpstr>Software Engineering Principles</vt:lpstr>
      <vt:lpstr>Principles in Software Development Process</vt:lpstr>
      <vt:lpstr>Rigor and Formality</vt:lpstr>
      <vt:lpstr>Rigor and Formality</vt:lpstr>
      <vt:lpstr>Separation of Concerns</vt:lpstr>
      <vt:lpstr>Modularity</vt:lpstr>
      <vt:lpstr>Modularity</vt:lpstr>
      <vt:lpstr>Modularity: coupling</vt:lpstr>
      <vt:lpstr>Modularity</vt:lpstr>
      <vt:lpstr>Modularity: Coupling: Content Coupling</vt:lpstr>
      <vt:lpstr>Modularity: Coupling: Common Coupling</vt:lpstr>
      <vt:lpstr>Modularity: Coupling: Control Coupling</vt:lpstr>
      <vt:lpstr>Modularity: Coupling: Stamp and Data Coupling</vt:lpstr>
      <vt:lpstr>Modularity</vt:lpstr>
      <vt:lpstr>Modularity: Cohesion: Types of Cohesion</vt:lpstr>
      <vt:lpstr>Modularity: Trade-off</vt:lpstr>
      <vt:lpstr>Separation of Concerns &amp; Modularity (Revisited)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Principles</dc:title>
  <dc:creator>Zeeshan Ali Rana</dc:creator>
  <cp:lastModifiedBy>ZAR</cp:lastModifiedBy>
  <cp:revision>44</cp:revision>
  <dcterms:created xsi:type="dcterms:W3CDTF">2021-04-20T04:16:08Z</dcterms:created>
  <dcterms:modified xsi:type="dcterms:W3CDTF">2026-09-11T15:40:29Z</dcterms:modified>
</cp:coreProperties>
</file>