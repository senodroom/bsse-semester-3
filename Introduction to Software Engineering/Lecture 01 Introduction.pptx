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9"/>
  </p:notesMasterIdLst>
  <p:sldIdLst>
    <p:sldId id="303" r:id="rId2"/>
    <p:sldId id="380" r:id="rId3"/>
    <p:sldId id="381" r:id="rId4"/>
    <p:sldId id="418" r:id="rId5"/>
    <p:sldId id="433" r:id="rId6"/>
    <p:sldId id="419" r:id="rId7"/>
    <p:sldId id="402" r:id="rId8"/>
    <p:sldId id="429" r:id="rId9"/>
    <p:sldId id="430" r:id="rId10"/>
    <p:sldId id="431" r:id="rId11"/>
    <p:sldId id="427" r:id="rId12"/>
    <p:sldId id="424" r:id="rId13"/>
    <p:sldId id="426" r:id="rId14"/>
    <p:sldId id="428" r:id="rId15"/>
    <p:sldId id="425" r:id="rId16"/>
    <p:sldId id="332" r:id="rId17"/>
    <p:sldId id="305" r:id="rId18"/>
    <p:sldId id="382" r:id="rId19"/>
    <p:sldId id="383" r:id="rId20"/>
    <p:sldId id="432" r:id="rId21"/>
    <p:sldId id="434" r:id="rId22"/>
    <p:sldId id="435" r:id="rId23"/>
    <p:sldId id="436" r:id="rId24"/>
    <p:sldId id="437" r:id="rId25"/>
    <p:sldId id="446" r:id="rId26"/>
    <p:sldId id="391" r:id="rId27"/>
    <p:sldId id="447" r:id="rId28"/>
    <p:sldId id="438" r:id="rId29"/>
    <p:sldId id="448" r:id="rId30"/>
    <p:sldId id="449" r:id="rId31"/>
    <p:sldId id="450" r:id="rId32"/>
    <p:sldId id="451" r:id="rId33"/>
    <p:sldId id="452" r:id="rId34"/>
    <p:sldId id="453" r:id="rId35"/>
    <p:sldId id="454" r:id="rId36"/>
    <p:sldId id="455" r:id="rId37"/>
    <p:sldId id="362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576" autoAdjust="0"/>
  </p:normalViewPr>
  <p:slideViewPr>
    <p:cSldViewPr>
      <p:cViewPr varScale="1">
        <p:scale>
          <a:sx n="69" d="100"/>
          <a:sy n="69" d="100"/>
        </p:scale>
        <p:origin x="144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6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7805391513560802E-2"/>
          <c:y val="5.9212890055409743E-2"/>
          <c:w val="0.89309738626421697"/>
          <c:h val="0.696389034703995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trendlineType val="exp"/>
            <c:dispRSqr val="0"/>
            <c:dispEq val="0"/>
          </c:trendline>
          <c:cat>
            <c:strRef>
              <c:f>Sheet1!$A$2:$A$7</c:f>
              <c:strCache>
                <c:ptCount val="6"/>
                <c:pt idx="0">
                  <c:v>Requirements</c:v>
                </c:pt>
                <c:pt idx="1">
                  <c:v>Design</c:v>
                </c:pt>
                <c:pt idx="2">
                  <c:v>Code</c:v>
                </c:pt>
                <c:pt idx="3">
                  <c:v>Testing</c:v>
                </c:pt>
                <c:pt idx="4">
                  <c:v>System Testing</c:v>
                </c:pt>
                <c:pt idx="5">
                  <c:v>Maintenance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2.5</c:v>
                </c:pt>
                <c:pt idx="2">
                  <c:v>6.5</c:v>
                </c:pt>
                <c:pt idx="3">
                  <c:v>16</c:v>
                </c:pt>
                <c:pt idx="4">
                  <c:v>40</c:v>
                </c:pt>
                <c:pt idx="5">
                  <c:v>110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90-47CF-8391-64FDDBA3F1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909626176"/>
        <c:axId val="-909636512"/>
      </c:barChart>
      <c:catAx>
        <c:axId val="-90962617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one"/>
        <c:crossAx val="-909636512"/>
        <c:crosses val="autoZero"/>
        <c:auto val="1"/>
        <c:lblAlgn val="ctr"/>
        <c:lblOffset val="100"/>
        <c:noMultiLvlLbl val="0"/>
      </c:catAx>
      <c:valAx>
        <c:axId val="-9096365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90962617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DCDF98-04A3-4FA1-8165-AC9A68647D5A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B8B157-7CD0-4B3B-9669-778326D8A8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729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32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304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07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lIns="91432" tIns="45716" rIns="91432" bIns="45716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604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2138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2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8" y="770467"/>
            <a:ext cx="8086725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0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4198409"/>
            <a:ext cx="6921151" cy="164592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996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325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767419"/>
            <a:ext cx="8085582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0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4187275"/>
            <a:ext cx="6919722" cy="1645920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280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492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7738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789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2032000"/>
            <a:ext cx="3806190" cy="7234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492" y="2736150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310" y="2029968"/>
            <a:ext cx="3806190" cy="722376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310" y="2734056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834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648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394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0"/>
            <a:ext cx="3429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542282"/>
            <a:ext cx="253746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762000"/>
            <a:ext cx="4572000" cy="4572000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2511813"/>
            <a:ext cx="254889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40404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41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5418668"/>
            <a:ext cx="8085582" cy="613283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rgbClr val="4D4D4D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5909735"/>
            <a:ext cx="6922008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0582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928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695325"/>
            <a:ext cx="1971675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714376"/>
            <a:ext cx="5800725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514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919" y="499533"/>
            <a:ext cx="8079581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206" y="1993393"/>
            <a:ext cx="8065294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6412447"/>
            <a:ext cx="30861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554697"/>
            <a:ext cx="37719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41193" y="5829748"/>
            <a:ext cx="219456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0" b="0">
                <a:ln>
                  <a:noFill/>
                </a:ln>
                <a:solidFill>
                  <a:schemeClr val="accent1">
                    <a:alpha val="20000"/>
                  </a:schemeClr>
                </a:solidFill>
                <a:latin typeface="+mj-lt"/>
              </a:defRPr>
            </a:lvl1pPr>
          </a:lstStyle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646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74320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nu.edu.pk/zeeshanr/schedule" TargetMode="External"/><Relationship Id="rId2" Type="http://schemas.openxmlformats.org/officeDocument/2006/relationships/hyperlink" Target="mailto:zeeshan.rana@nu.edu.pk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452628" y="4343400"/>
            <a:ext cx="8458200" cy="990600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/>
              <a:t>Skills required to transform requirements into working software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6096000"/>
            <a:ext cx="22688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Zeeshan</a:t>
            </a:r>
            <a:r>
              <a:rPr lang="en-US" sz="2400" dirty="0">
                <a:solidFill>
                  <a:schemeClr val="bg1"/>
                </a:solidFill>
              </a:rPr>
              <a:t> Ali </a:t>
            </a:r>
            <a:r>
              <a:rPr lang="en-US" sz="2400" dirty="0" err="1">
                <a:solidFill>
                  <a:schemeClr val="bg1"/>
                </a:solidFill>
              </a:rPr>
              <a:t>Rana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452628" y="609600"/>
            <a:ext cx="8086725" cy="3352800"/>
          </a:xfrm>
        </p:spPr>
        <p:txBody>
          <a:bodyPr/>
          <a:lstStyle/>
          <a:p>
            <a:pPr algn="ctr"/>
            <a:r>
              <a:rPr lang="en-US" sz="7200" dirty="0"/>
              <a:t>Introduction to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62000"/>
            <a:ext cx="8229600" cy="1143000"/>
          </a:xfrm>
        </p:spPr>
        <p:txBody>
          <a:bodyPr tIns="46038" bIns="46038"/>
          <a:lstStyle/>
          <a:p>
            <a:r>
              <a:rPr lang="en-US" dirty="0"/>
              <a:t>Tentative Grade Distribution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902823"/>
            <a:ext cx="7162800" cy="3048000"/>
          </a:xfrm>
        </p:spPr>
        <p:txBody>
          <a:bodyPr tIns="46038" bIns="46038"/>
          <a:lstStyle/>
          <a:p>
            <a:r>
              <a:rPr lang="en-US" dirty="0"/>
              <a:t>Quizzes (Announced + Unannounced) – 10 %</a:t>
            </a:r>
          </a:p>
          <a:p>
            <a:r>
              <a:rPr lang="en-US" sz="2400" dirty="0"/>
              <a:t>Assignments + Project + Class Exercises – 20 %</a:t>
            </a:r>
            <a:endParaRPr lang="en-US" dirty="0"/>
          </a:p>
          <a:p>
            <a:r>
              <a:rPr lang="en-US" dirty="0"/>
              <a:t>Mid Term Exams – 30 %</a:t>
            </a:r>
          </a:p>
          <a:p>
            <a:r>
              <a:rPr lang="en-US" dirty="0"/>
              <a:t>Final Exam – 40 %</a:t>
            </a:r>
          </a:p>
          <a:p>
            <a:endParaRPr lang="en-US" dirty="0"/>
          </a:p>
          <a:p>
            <a:r>
              <a:rPr lang="en-US" dirty="0"/>
              <a:t>Grading Criterion: Absolute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5105400"/>
            <a:ext cx="63246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Passing Criteria</a:t>
            </a:r>
          </a:p>
          <a:p>
            <a:pPr lvl="1"/>
            <a:r>
              <a:rPr lang="en-US" sz="2000" dirty="0"/>
              <a:t>Minimum Attendance Requirements Met					</a:t>
            </a:r>
          </a:p>
          <a:p>
            <a:pPr lvl="1"/>
            <a:r>
              <a:rPr lang="en-US" sz="2000" dirty="0"/>
              <a:t>Minimum Marks Requirements 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683795"/>
      </p:ext>
    </p:extLst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62000"/>
            <a:ext cx="8229600" cy="1143000"/>
          </a:xfrm>
        </p:spPr>
        <p:txBody>
          <a:bodyPr tIns="46038" bIns="46038"/>
          <a:lstStyle/>
          <a:p>
            <a:r>
              <a:rPr lang="en-US"/>
              <a:t>Text Books</a:t>
            </a:r>
            <a:endParaRPr 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2514600"/>
            <a:ext cx="7848600" cy="2819400"/>
          </a:xfrm>
        </p:spPr>
        <p:txBody>
          <a:bodyPr tIns="46038" bIns="46038"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dirty="0"/>
              <a:t>Carlo </a:t>
            </a:r>
            <a:r>
              <a:rPr lang="en-US" dirty="0" err="1"/>
              <a:t>Ghezzi</a:t>
            </a:r>
            <a:r>
              <a:rPr lang="en-US" dirty="0"/>
              <a:t>, Mehdi </a:t>
            </a:r>
            <a:r>
              <a:rPr lang="en-US" dirty="0" err="1"/>
              <a:t>Jazayeri</a:t>
            </a:r>
            <a:r>
              <a:rPr lang="en-US" dirty="0"/>
              <a:t>, Dino </a:t>
            </a:r>
            <a:r>
              <a:rPr lang="en-US" dirty="0" err="1"/>
              <a:t>Mandrioli</a:t>
            </a:r>
            <a:r>
              <a:rPr lang="en-US" dirty="0"/>
              <a:t>, Fundamentals of Software Engineering, 2</a:t>
            </a:r>
            <a:r>
              <a:rPr lang="en-US" baseline="30000" dirty="0"/>
              <a:t>nd</a:t>
            </a:r>
            <a:r>
              <a:rPr lang="en-US" dirty="0"/>
              <a:t> Edition. Pearson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Dick Hamlet, Joe </a:t>
            </a:r>
            <a:r>
              <a:rPr lang="en-US" dirty="0" err="1"/>
              <a:t>Maybee</a:t>
            </a:r>
            <a:r>
              <a:rPr lang="en-US" dirty="0"/>
              <a:t>, The Engineering of Software: Technical Foundations for the Individuals. Addison Wesley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Roger S. Pressman, Software Engineering A Practitioner’s Approach, 9</a:t>
            </a:r>
            <a:r>
              <a:rPr lang="en-US" baseline="30000" dirty="0"/>
              <a:t>th</a:t>
            </a:r>
            <a:r>
              <a:rPr lang="en-US" dirty="0"/>
              <a:t> Edition. </a:t>
            </a:r>
            <a:r>
              <a:rPr lang="en-US" dirty="0" err="1"/>
              <a:t>McGrawHill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332941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206" y="1993393"/>
            <a:ext cx="8065294" cy="448360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Instructor: Dr. Zeeshan Ali Rana</a:t>
            </a:r>
          </a:p>
          <a:p>
            <a:pPr lvl="1"/>
            <a:r>
              <a:rPr lang="en-US" dirty="0"/>
              <a:t>Office: First F Block building</a:t>
            </a:r>
          </a:p>
          <a:p>
            <a:pPr lvl="1"/>
            <a:r>
              <a:rPr lang="en-US" dirty="0"/>
              <a:t>Phone Extension: 577</a:t>
            </a:r>
          </a:p>
          <a:p>
            <a:pPr lvl="1"/>
            <a:r>
              <a:rPr lang="en-US" dirty="0"/>
              <a:t>Office Hours: </a:t>
            </a:r>
          </a:p>
          <a:p>
            <a:pPr lvl="2"/>
            <a:r>
              <a:rPr lang="en-US" b="1" dirty="0"/>
              <a:t>MW:</a:t>
            </a:r>
            <a:r>
              <a:rPr lang="en-US" dirty="0"/>
              <a:t> 	1130 – 1250 </a:t>
            </a:r>
          </a:p>
          <a:p>
            <a:pPr lvl="2"/>
            <a:r>
              <a:rPr lang="en-US" b="1" dirty="0"/>
              <a:t>TR:</a:t>
            </a:r>
            <a:r>
              <a:rPr lang="en-US" dirty="0"/>
              <a:t> 	1430 – 1550</a:t>
            </a:r>
          </a:p>
          <a:p>
            <a:pPr lvl="1"/>
            <a:r>
              <a:rPr lang="en-US" dirty="0"/>
              <a:t>Email: </a:t>
            </a:r>
            <a:r>
              <a:rPr lang="en-US" dirty="0">
                <a:hlinkClick r:id="rId2"/>
              </a:rPr>
              <a:t>zeeshan.rana@nu.edu.pk</a:t>
            </a:r>
            <a:endParaRPr lang="en-US" dirty="0"/>
          </a:p>
          <a:p>
            <a:pPr lvl="1"/>
            <a:r>
              <a:rPr lang="en-US" dirty="0"/>
              <a:t>Complete Schedule at: </a:t>
            </a:r>
            <a:r>
              <a:rPr lang="en-US" dirty="0">
                <a:hlinkClick r:id="rId3"/>
              </a:rPr>
              <a:t>https://sites.google.com/nu.edu.pk/zeeshanr/schedule</a:t>
            </a:r>
            <a:endParaRPr lang="en-US" dirty="0"/>
          </a:p>
          <a:p>
            <a:r>
              <a:rPr lang="en-US" dirty="0"/>
              <a:t>TA:</a:t>
            </a:r>
          </a:p>
          <a:p>
            <a:pPr lvl="1"/>
            <a:r>
              <a:rPr lang="en-US" dirty="0"/>
              <a:t>Office Hours:</a:t>
            </a:r>
          </a:p>
          <a:p>
            <a:pPr lvl="1"/>
            <a:r>
              <a:rPr lang="en-US" dirty="0"/>
              <a:t>For contact details see Google classroom</a:t>
            </a:r>
          </a:p>
        </p:txBody>
      </p:sp>
      <p:sp>
        <p:nvSpPr>
          <p:cNvPr id="4" name="TextBox 3"/>
          <p:cNvSpPr txBox="1"/>
          <p:nvPr/>
        </p:nvSpPr>
        <p:spPr>
          <a:xfrm rot="19337996">
            <a:off x="3827142" y="2923808"/>
            <a:ext cx="205740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There is no </a:t>
            </a:r>
            <a:r>
              <a:rPr lang="en-US" dirty="0" err="1">
                <a:solidFill>
                  <a:srgbClr val="FF0000"/>
                </a:solidFill>
              </a:rPr>
              <a:t>lhr</a:t>
            </a:r>
            <a:r>
              <a:rPr lang="en-US" dirty="0">
                <a:solidFill>
                  <a:srgbClr val="FF0000"/>
                </a:solidFill>
              </a:rPr>
              <a:t> in my email address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99"/>
          <a:stretch/>
        </p:blipFill>
        <p:spPr>
          <a:xfrm>
            <a:off x="6014835" y="1993393"/>
            <a:ext cx="2955608" cy="264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910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206" y="1676401"/>
            <a:ext cx="8065294" cy="48768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Research interests</a:t>
            </a:r>
            <a:r>
              <a:rPr lang="en-US" dirty="0"/>
              <a:t> </a:t>
            </a:r>
          </a:p>
          <a:p>
            <a:r>
              <a:rPr lang="en-US" dirty="0"/>
              <a:t>AI in Software Engineering, </a:t>
            </a:r>
          </a:p>
          <a:p>
            <a:r>
              <a:rPr lang="en-US" dirty="0"/>
              <a:t>Continuous Requirements </a:t>
            </a:r>
            <a:r>
              <a:rPr lang="en-US" dirty="0" err="1"/>
              <a:t>Prioritisation</a:t>
            </a:r>
            <a:r>
              <a:rPr lang="en-US" dirty="0"/>
              <a:t>, </a:t>
            </a:r>
          </a:p>
          <a:p>
            <a:r>
              <a:rPr lang="en-US" dirty="0"/>
              <a:t>Compute Efficient Deep Learning, </a:t>
            </a:r>
          </a:p>
          <a:p>
            <a:r>
              <a:rPr lang="en-US" dirty="0"/>
              <a:t>Retrieval-based </a:t>
            </a:r>
            <a:r>
              <a:rPr lang="en-US" dirty="0" err="1"/>
              <a:t>Chatbots</a:t>
            </a:r>
            <a:r>
              <a:rPr lang="en-US" dirty="0"/>
              <a:t>, </a:t>
            </a:r>
          </a:p>
          <a:p>
            <a:r>
              <a:rPr lang="en-US" dirty="0"/>
              <a:t>Software Defects, </a:t>
            </a:r>
          </a:p>
          <a:p>
            <a:r>
              <a:rPr lang="en-US" dirty="0"/>
              <a:t>Software Process Improvement, </a:t>
            </a:r>
          </a:p>
          <a:p>
            <a:r>
              <a:rPr lang="en-US" dirty="0"/>
              <a:t>Software Estimations, </a:t>
            </a:r>
          </a:p>
          <a:p>
            <a:r>
              <a:rPr lang="en-US" dirty="0"/>
              <a:t>Software Project Management, </a:t>
            </a:r>
          </a:p>
          <a:p>
            <a:r>
              <a:rPr lang="en-US" dirty="0"/>
              <a:t>Handling Tacit Knowledge in SE Process, </a:t>
            </a:r>
          </a:p>
          <a:p>
            <a:r>
              <a:rPr lang="en-US" dirty="0"/>
              <a:t>Managing Technical Debt in SE, </a:t>
            </a:r>
          </a:p>
          <a:p>
            <a:r>
              <a:rPr lang="en-US" dirty="0"/>
              <a:t>AI in Medicine.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315928-6A87-97CC-5211-EA480C33727E}"/>
              </a:ext>
            </a:extLst>
          </p:cNvPr>
          <p:cNvSpPr txBox="1"/>
          <p:nvPr/>
        </p:nvSpPr>
        <p:spPr>
          <a:xfrm>
            <a:off x="2057400" y="6368535"/>
            <a:ext cx="67025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more info, visit: https://sites.google.com/nu.edu.pk/zeeshanr</a:t>
            </a:r>
          </a:p>
        </p:txBody>
      </p:sp>
    </p:spTree>
    <p:extLst>
      <p:ext uri="{BB962C8B-B14F-4D97-AF65-F5344CB8AC3E}">
        <p14:creationId xmlns:p14="http://schemas.microsoft.com/office/powerpoint/2010/main" val="4030959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Tentative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document</a:t>
            </a:r>
          </a:p>
        </p:txBody>
      </p:sp>
    </p:spTree>
    <p:extLst>
      <p:ext uri="{BB962C8B-B14F-4D97-AF65-F5344CB8AC3E}">
        <p14:creationId xmlns:p14="http://schemas.microsoft.com/office/powerpoint/2010/main" val="319395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81000" y="2536448"/>
            <a:ext cx="84582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Size of Software Industry:  </a:t>
            </a:r>
            <a:r>
              <a:rPr lang="en-US" sz="3200" dirty="0">
                <a:solidFill>
                  <a:srgbClr val="FF0000"/>
                </a:solidFill>
              </a:rPr>
              <a:t>&gt;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USD 600 billion </a:t>
            </a:r>
          </a:p>
          <a:p>
            <a:pPr algn="ctr"/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(Gartner 2022)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0113" y="4168423"/>
            <a:ext cx="75438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Global IT Spending:  </a:t>
            </a:r>
            <a:r>
              <a:rPr lang="en-US" sz="3200" dirty="0">
                <a:solidFill>
                  <a:srgbClr val="FF0000"/>
                </a:solidFill>
              </a:rPr>
              <a:t>USD 4.2 trillion </a:t>
            </a:r>
          </a:p>
          <a:p>
            <a:pPr algn="ctr"/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(Gartner 2022)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715000" y="2184533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~ 5.15 million BTC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6743" y="5800398"/>
            <a:ext cx="419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By 2030 ~ 12 million BTC</a:t>
            </a:r>
          </a:p>
        </p:txBody>
      </p:sp>
    </p:spTree>
    <p:extLst>
      <p:ext uri="{BB962C8B-B14F-4D97-AF65-F5344CB8AC3E}">
        <p14:creationId xmlns:p14="http://schemas.microsoft.com/office/powerpoint/2010/main" val="474018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4" grpId="0"/>
      <p:bldP spid="2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4200" y="2903041"/>
            <a:ext cx="2667000" cy="754559"/>
          </a:xfrm>
          <a:ln w="15875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2800" dirty="0"/>
              <a:t>Software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DD400-CC96-42FA-80E5-F9CA3AD0FBE0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7409" y="817349"/>
            <a:ext cx="75438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Size of Software Industry:  </a:t>
            </a:r>
            <a:r>
              <a:rPr lang="en-US" sz="3200" dirty="0">
                <a:solidFill>
                  <a:srgbClr val="FF0000"/>
                </a:solidFill>
              </a:rPr>
              <a:t>USD 600 billion </a:t>
            </a:r>
          </a:p>
          <a:p>
            <a:pPr algn="ctr"/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(Gartner 2022)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838200" y="3063401"/>
            <a:ext cx="2286000" cy="449759"/>
            <a:chOff x="838200" y="2743200"/>
            <a:chExt cx="2286000" cy="449759"/>
          </a:xfrm>
        </p:grpSpPr>
        <p:sp>
          <p:nvSpPr>
            <p:cNvPr id="11" name="Title 1"/>
            <p:cNvSpPr txBox="1">
              <a:spLocks/>
            </p:cNvSpPr>
            <p:nvPr/>
          </p:nvSpPr>
          <p:spPr>
            <a:xfrm>
              <a:off x="838200" y="2743200"/>
              <a:ext cx="1600200" cy="449759"/>
            </a:xfrm>
            <a:prstGeom prst="rect">
              <a:avLst/>
            </a:prstGeom>
            <a:ln w="15875">
              <a:noFill/>
            </a:ln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800" dirty="0"/>
                <a:t>Process</a:t>
              </a:r>
            </a:p>
          </p:txBody>
        </p:sp>
        <p:cxnSp>
          <p:nvCxnSpPr>
            <p:cNvPr id="18" name="Straight Connector 17"/>
            <p:cNvCxnSpPr>
              <a:stCxn id="2" idx="1"/>
              <a:endCxn id="11" idx="3"/>
            </p:cNvCxnSpPr>
            <p:nvPr/>
          </p:nvCxnSpPr>
          <p:spPr>
            <a:xfrm flipH="1">
              <a:off x="2438400" y="2960120"/>
              <a:ext cx="685800" cy="79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5257800" y="1905000"/>
            <a:ext cx="2044890" cy="998041"/>
            <a:chOff x="5257800" y="1905000"/>
            <a:chExt cx="2044890" cy="998041"/>
          </a:xfrm>
        </p:grpSpPr>
        <p:sp>
          <p:nvSpPr>
            <p:cNvPr id="13" name="Title 1"/>
            <p:cNvSpPr txBox="1">
              <a:spLocks/>
            </p:cNvSpPr>
            <p:nvPr/>
          </p:nvSpPr>
          <p:spPr>
            <a:xfrm>
              <a:off x="5397690" y="1905000"/>
              <a:ext cx="1905000" cy="449759"/>
            </a:xfrm>
            <a:prstGeom prst="rect">
              <a:avLst/>
            </a:prstGeom>
            <a:ln w="15875">
              <a:noFill/>
            </a:ln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800" dirty="0"/>
                <a:t>Resources</a:t>
              </a: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V="1">
              <a:off x="5257800" y="2354759"/>
              <a:ext cx="381000" cy="5482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5791200" y="3061648"/>
            <a:ext cx="2286000" cy="449759"/>
            <a:chOff x="5791200" y="2823120"/>
            <a:chExt cx="2286000" cy="449759"/>
          </a:xfrm>
        </p:grpSpPr>
        <p:sp>
          <p:nvSpPr>
            <p:cNvPr id="14" name="Title 1"/>
            <p:cNvSpPr txBox="1">
              <a:spLocks/>
            </p:cNvSpPr>
            <p:nvPr/>
          </p:nvSpPr>
          <p:spPr>
            <a:xfrm>
              <a:off x="6591300" y="2823120"/>
              <a:ext cx="1485900" cy="449759"/>
            </a:xfrm>
            <a:prstGeom prst="rect">
              <a:avLst/>
            </a:prstGeom>
            <a:ln w="15875">
              <a:noFill/>
            </a:ln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800" dirty="0"/>
                <a:t>Skillset</a:t>
              </a:r>
            </a:p>
          </p:txBody>
        </p:sp>
        <p:cxnSp>
          <p:nvCxnSpPr>
            <p:cNvPr id="28" name="Straight Connector 27"/>
            <p:cNvCxnSpPr>
              <a:stCxn id="2" idx="3"/>
              <a:endCxn id="14" idx="1"/>
            </p:cNvCxnSpPr>
            <p:nvPr/>
          </p:nvCxnSpPr>
          <p:spPr>
            <a:xfrm>
              <a:off x="5791200" y="3041793"/>
              <a:ext cx="800100" cy="620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/>
          <p:cNvGrpSpPr/>
          <p:nvPr/>
        </p:nvGrpSpPr>
        <p:grpSpPr>
          <a:xfrm>
            <a:off x="1447800" y="3657600"/>
            <a:ext cx="6095999" cy="2290951"/>
            <a:chOff x="1447800" y="3657600"/>
            <a:chExt cx="6095999" cy="2290951"/>
          </a:xfrm>
        </p:grpSpPr>
        <p:graphicFrame>
          <p:nvGraphicFramePr>
            <p:cNvPr id="7" name="Content Placeholder 3"/>
            <p:cNvGraphicFramePr>
              <a:graphicFrameLocks/>
            </p:cNvGraphicFramePr>
            <p:nvPr/>
          </p:nvGraphicFramePr>
          <p:xfrm>
            <a:off x="1447800" y="4724400"/>
            <a:ext cx="6095999" cy="4572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1298222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759178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838198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83820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1096994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1265207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</a:tblGrid>
                <a:tr h="457200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200" dirty="0"/>
                          <a:t>Requirements Analysis</a:t>
                        </a:r>
                      </a:p>
                    </a:txBody>
                    <a:tcPr anchor="ctr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200" dirty="0"/>
                          <a:t>Design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200" dirty="0"/>
                          <a:t>Coding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200" dirty="0"/>
                          <a:t>Testing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sz="1200" dirty="0"/>
                          <a:t>Deployment</a:t>
                        </a:r>
                      </a:p>
                      <a:p>
                        <a:pPr algn="ctr"/>
                        <a:endParaRPr lang="en-US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200" dirty="0"/>
                          <a:t>Maintenance</a:t>
                        </a: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9" name="TextBox 8"/>
            <p:cNvSpPr txBox="1"/>
            <p:nvPr/>
          </p:nvSpPr>
          <p:spPr>
            <a:xfrm>
              <a:off x="2574308" y="5579219"/>
              <a:ext cx="47283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Typical phases in lifecycle of software</a:t>
              </a:r>
              <a:endParaRPr lang="en-US" sz="16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grpSp>
          <p:nvGrpSpPr>
            <p:cNvPr id="35" name="Group 34"/>
            <p:cNvGrpSpPr/>
            <p:nvPr/>
          </p:nvGrpSpPr>
          <p:grpSpPr>
            <a:xfrm>
              <a:off x="3518848" y="3657600"/>
              <a:ext cx="1866900" cy="914400"/>
              <a:chOff x="533400" y="3657600"/>
              <a:chExt cx="1866900" cy="914400"/>
            </a:xfrm>
          </p:grpSpPr>
          <p:sp>
            <p:nvSpPr>
              <p:cNvPr id="15" name="Title 1"/>
              <p:cNvSpPr txBox="1">
                <a:spLocks/>
              </p:cNvSpPr>
              <p:nvPr/>
            </p:nvSpPr>
            <p:spPr>
              <a:xfrm>
                <a:off x="533400" y="4122241"/>
                <a:ext cx="1866900" cy="449759"/>
              </a:xfrm>
              <a:prstGeom prst="rect">
                <a:avLst/>
              </a:prstGeom>
              <a:ln w="15875">
                <a:noFill/>
              </a:ln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800" dirty="0"/>
                  <a:t>Lifecycle</a:t>
                </a:r>
              </a:p>
            </p:txBody>
          </p:sp>
          <p:cxnSp>
            <p:nvCxnSpPr>
              <p:cNvPr id="30" name="Straight Connector 29"/>
              <p:cNvCxnSpPr>
                <a:stCxn id="2" idx="2"/>
                <a:endCxn id="15" idx="0"/>
              </p:cNvCxnSpPr>
              <p:nvPr/>
            </p:nvCxnSpPr>
            <p:spPr>
              <a:xfrm flipH="1">
                <a:off x="1466850" y="3657600"/>
                <a:ext cx="5402" cy="46464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7" name="TextBox 36"/>
          <p:cNvSpPr txBox="1"/>
          <p:nvPr/>
        </p:nvSpPr>
        <p:spPr>
          <a:xfrm>
            <a:off x="1121391" y="5948551"/>
            <a:ext cx="7184409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The software industry faces many challenges</a:t>
            </a:r>
          </a:p>
        </p:txBody>
      </p:sp>
    </p:spTree>
    <p:extLst>
      <p:ext uri="{BB962C8B-B14F-4D97-AF65-F5344CB8AC3E}">
        <p14:creationId xmlns:p14="http://schemas.microsoft.com/office/powerpoint/2010/main" val="194221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37" grpId="0" animBg="1"/>
      <p:bldP spid="37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Challenges for Software Industry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020953" y="4265612"/>
            <a:ext cx="5123047" cy="160178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Project Size and Complexity</a:t>
            </a:r>
          </a:p>
          <a:p>
            <a:r>
              <a:rPr lang="en-US" dirty="0"/>
              <a:t>Customer Satisfaction Level</a:t>
            </a:r>
          </a:p>
          <a:p>
            <a:r>
              <a:rPr lang="en-US" dirty="0"/>
              <a:t>Development and Budget Process</a:t>
            </a:r>
          </a:p>
          <a:p>
            <a:r>
              <a:rPr lang="en-US" dirty="0"/>
              <a:t>Skills of Developers and Managers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DD400-CC96-42FA-80E5-F9CA3AD0FBE0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81000" y="4195495"/>
            <a:ext cx="2286000" cy="1601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dirty="0"/>
              <a:t>Factors Affecting Project Success Rate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438400" y="4981245"/>
            <a:ext cx="1371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590800" y="4576495"/>
            <a:ext cx="838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are</a:t>
            </a:r>
          </a:p>
        </p:txBody>
      </p:sp>
      <p:sp>
        <p:nvSpPr>
          <p:cNvPr id="5" name="Left Brace 4"/>
          <p:cNvSpPr/>
          <p:nvPr/>
        </p:nvSpPr>
        <p:spPr>
          <a:xfrm>
            <a:off x="3886200" y="4265612"/>
            <a:ext cx="381000" cy="14478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81000" y="4724400"/>
            <a:ext cx="8305800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2800" dirty="0"/>
              <a:t>These factors are associated with defects.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(Jones 2008)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1633816"/>
            <a:ext cx="75438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Successful Software Projects ~  </a:t>
            </a:r>
            <a:r>
              <a:rPr lang="en-US" sz="3200" dirty="0">
                <a:solidFill>
                  <a:srgbClr val="FF0000"/>
                </a:solidFill>
              </a:rPr>
              <a:t>33% </a:t>
            </a:r>
          </a:p>
          <a:p>
            <a:pPr algn="ctr"/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(Standish Group)</a:t>
            </a:r>
          </a:p>
        </p:txBody>
      </p:sp>
    </p:spTree>
    <p:extLst>
      <p:ext uri="{BB962C8B-B14F-4D97-AF65-F5344CB8AC3E}">
        <p14:creationId xmlns:p14="http://schemas.microsoft.com/office/powerpoint/2010/main" val="2113630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4" grpId="0"/>
      <p:bldP spid="10" grpId="0"/>
      <p:bldP spid="5" grpId="0" animBg="1"/>
      <p:bldP spid="12" grpId="0" animBg="1"/>
      <p:bldP spid="12" grpId="1" animBg="1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Industry Challenges and Software Defects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DD400-CC96-42FA-80E5-F9CA3AD0FBE0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00418" y="1828800"/>
            <a:ext cx="2014182" cy="1143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Factors affecting Project Success Rate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397825" y="2338450"/>
            <a:ext cx="1219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/>
          <p:cNvSpPr txBox="1">
            <a:spLocks/>
          </p:cNvSpPr>
          <p:nvPr/>
        </p:nvSpPr>
        <p:spPr>
          <a:xfrm>
            <a:off x="3886200" y="1766248"/>
            <a:ext cx="5123047" cy="12235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Customer-Developer Communication Failure</a:t>
            </a:r>
          </a:p>
          <a:p>
            <a:r>
              <a:rPr lang="en-US" sz="2000" dirty="0"/>
              <a:t>Faulty Definition of Requirements</a:t>
            </a:r>
          </a:p>
          <a:p>
            <a:r>
              <a:rPr lang="en-US" sz="2000" dirty="0"/>
              <a:t>Documentation, Design, Coding Errors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7209723" y="3124200"/>
            <a:ext cx="2" cy="6886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0" y="3276600"/>
            <a:ext cx="838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cause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705600" y="3962400"/>
            <a:ext cx="1013347" cy="400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Defects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3657600" y="3927144"/>
            <a:ext cx="2133600" cy="5039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Cost and Schedule</a:t>
            </a:r>
          </a:p>
        </p:txBody>
      </p:sp>
      <p:cxnSp>
        <p:nvCxnSpPr>
          <p:cNvPr id="21" name="Straight Arrow Connector 20"/>
          <p:cNvCxnSpPr>
            <a:stCxn id="16" idx="1"/>
            <a:endCxn id="17" idx="3"/>
          </p:cNvCxnSpPr>
          <p:nvPr/>
        </p:nvCxnSpPr>
        <p:spPr>
          <a:xfrm flipH="1">
            <a:off x="5791200" y="4162624"/>
            <a:ext cx="914400" cy="164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804848" y="3810000"/>
            <a:ext cx="900752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impact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2667000" y="4162624"/>
            <a:ext cx="990600" cy="164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680648" y="3810000"/>
            <a:ext cx="887104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impact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1000" y="3939120"/>
            <a:ext cx="23122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Project Success Rate</a:t>
            </a:r>
          </a:p>
        </p:txBody>
      </p:sp>
      <p:sp>
        <p:nvSpPr>
          <p:cNvPr id="28" name="Content Placeholder 2"/>
          <p:cNvSpPr txBox="1">
            <a:spLocks/>
          </p:cNvSpPr>
          <p:nvPr/>
        </p:nvSpPr>
        <p:spPr>
          <a:xfrm>
            <a:off x="3352800" y="4601457"/>
            <a:ext cx="2438400" cy="5039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Customer satisfaction level</a:t>
            </a:r>
          </a:p>
        </p:txBody>
      </p:sp>
      <p:cxnSp>
        <p:nvCxnSpPr>
          <p:cNvPr id="30" name="Elbow Connector 29"/>
          <p:cNvCxnSpPr>
            <a:stCxn id="22" idx="2"/>
            <a:endCxn id="28" idx="3"/>
          </p:cNvCxnSpPr>
          <p:nvPr/>
        </p:nvCxnSpPr>
        <p:spPr>
          <a:xfrm rot="5400000">
            <a:off x="5691998" y="4290202"/>
            <a:ext cx="662429" cy="46402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8" idx="2"/>
            <a:endCxn id="33" idx="0"/>
          </p:cNvCxnSpPr>
          <p:nvPr/>
        </p:nvCxnSpPr>
        <p:spPr>
          <a:xfrm>
            <a:off x="4572000" y="5105400"/>
            <a:ext cx="990" cy="4377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162800" y="4572000"/>
            <a:ext cx="1113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indicate</a:t>
            </a:r>
          </a:p>
        </p:txBody>
      </p:sp>
      <p:sp>
        <p:nvSpPr>
          <p:cNvPr id="33" name="Content Placeholder 2"/>
          <p:cNvSpPr txBox="1">
            <a:spLocks/>
          </p:cNvSpPr>
          <p:nvPr/>
        </p:nvSpPr>
        <p:spPr>
          <a:xfrm>
            <a:off x="3567752" y="5543153"/>
            <a:ext cx="2010476" cy="400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Software Quality</a:t>
            </a:r>
          </a:p>
        </p:txBody>
      </p:sp>
      <p:cxnSp>
        <p:nvCxnSpPr>
          <p:cNvPr id="35" name="Elbow Connector 34"/>
          <p:cNvCxnSpPr>
            <a:endCxn id="33" idx="3"/>
          </p:cNvCxnSpPr>
          <p:nvPr/>
        </p:nvCxnSpPr>
        <p:spPr>
          <a:xfrm rot="10800000" flipV="1">
            <a:off x="5578228" y="4390393"/>
            <a:ext cx="1584572" cy="1352983"/>
          </a:xfrm>
          <a:prstGeom prst="bentConnector3">
            <a:avLst>
              <a:gd name="adj1" fmla="val -81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575412" y="5183705"/>
            <a:ext cx="1113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indicate</a:t>
            </a:r>
          </a:p>
        </p:txBody>
      </p:sp>
      <p:cxnSp>
        <p:nvCxnSpPr>
          <p:cNvPr id="40" name="Elbow Connector 39"/>
          <p:cNvCxnSpPr>
            <a:stCxn id="28" idx="1"/>
            <a:endCxn id="25" idx="2"/>
          </p:cNvCxnSpPr>
          <p:nvPr/>
        </p:nvCxnSpPr>
        <p:spPr>
          <a:xfrm rot="10800000">
            <a:off x="1537118" y="4339231"/>
            <a:ext cx="1815682" cy="514199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905000" y="48006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impacts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2000" y="4734580"/>
            <a:ext cx="7696200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2800" dirty="0"/>
              <a:t>Lower the defects, higher the software quality.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162300" y="6019800"/>
            <a:ext cx="38224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Kan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2002, 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Galin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2004, Jones 2008)</a:t>
            </a:r>
            <a:endParaRPr lang="en-US" sz="2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" name="Left Brace 33"/>
          <p:cNvSpPr/>
          <p:nvPr/>
        </p:nvSpPr>
        <p:spPr>
          <a:xfrm>
            <a:off x="3695700" y="1607679"/>
            <a:ext cx="381000" cy="14478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2397825" y="2020669"/>
            <a:ext cx="1219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may result in</a:t>
            </a:r>
          </a:p>
        </p:txBody>
      </p:sp>
    </p:spTree>
    <p:extLst>
      <p:ext uri="{BB962C8B-B14F-4D97-AF65-F5344CB8AC3E}">
        <p14:creationId xmlns:p14="http://schemas.microsoft.com/office/powerpoint/2010/main" val="3213783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8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6" grpId="0"/>
      <p:bldP spid="17" grpId="0"/>
      <p:bldP spid="22" grpId="0"/>
      <p:bldP spid="24" grpId="0"/>
      <p:bldP spid="25" grpId="0"/>
      <p:bldP spid="28" grpId="0"/>
      <p:bldP spid="32" grpId="0"/>
      <p:bldP spid="33" grpId="0"/>
      <p:bldP spid="38" grpId="0"/>
      <p:bldP spid="41" grpId="0"/>
      <p:bldP spid="42" grpId="0" animBg="1"/>
      <p:bldP spid="42" grpId="1" animBg="1"/>
      <p:bldP spid="34" grpId="0" animBg="1"/>
      <p:bldP spid="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95600" y="228600"/>
            <a:ext cx="5943600" cy="6324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[10] = {1,5,5,5,5,4,4,4,2,3};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arr1[5] = {1,2,3,4,5};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arr2 [5] = {0,0,0,0,0};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a = 0;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b = 0;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for(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=0;i&lt;10;i++){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j=0;j&lt;5;j++){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== arr1[j])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arr2[j] = arr2[j]+1;            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for(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=0;i&lt;5;i++){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if(arr2[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]&gt;b){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   b=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a = b+1;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&lt;&lt;a;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64786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95600" y="704088"/>
            <a:ext cx="6248400" cy="6001512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[10] = {1,2,3,3,4,6,7,1,2,1};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a = 0, b = 0;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for(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=0;i&lt;10;i++){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]&gt;b){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b 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==0){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a = b;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if(b&gt;a){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c = b;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b = a;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a = c;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&lt;&lt;b;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709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10 unique non-negative integers stored in an array. The 10 elements are in the range 0 to 20. You need to sort these elements in ascending order. Your sorting algorithm should not have nested loops. If required you can use additional memory to store the sorted elements</a:t>
            </a:r>
          </a:p>
        </p:txBody>
      </p:sp>
    </p:spTree>
    <p:extLst>
      <p:ext uri="{BB962C8B-B14F-4D97-AF65-F5344CB8AC3E}">
        <p14:creationId xmlns:p14="http://schemas.microsoft.com/office/powerpoint/2010/main" val="1470161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0" y="1524000"/>
            <a:ext cx="6934200" cy="5334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data[10] = {1,5,5,5,5,4,4,4,2,3};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elements[5] = {1,2,3,4,5};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frequencies [5] = {0,0,0,0,0};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mode = 0;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indexOfMostFrequentElement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for(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=0;i&lt;10;i++){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j=0;j&lt;5;j++){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(data [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== elements[j])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frequencies[j] = frequencies[j]+1;            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for(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=0;i&lt;5;i++){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if(frequencies[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]&gt;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indexOfMostFrequentElement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indexOfMostFrequentElement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mode = indexOfMostFrequentElement+1;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&lt;&lt;mode;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10483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9400" y="838200"/>
            <a:ext cx="5943600" cy="5696712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elements[10] = {1,2,3,3,4,6,7,1,2,1};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largest = 0,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secondLargest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for(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=0;i&lt;10;i++){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(elements[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]&gt;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secondLargest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secondLargest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elements[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==0){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largest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secondLargest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secondLargest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&gt;largest){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temp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secondLargest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secondLargest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largest;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largest = temp;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secondLargest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510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62000"/>
            <a:ext cx="8229600" cy="1143000"/>
          </a:xfrm>
        </p:spPr>
        <p:txBody>
          <a:bodyPr tIns="46038" bIns="46038"/>
          <a:lstStyle/>
          <a:p>
            <a:r>
              <a:rPr lang="en-US" dirty="0"/>
              <a:t>Why is SE Needed?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3733800"/>
          </a:xfrm>
        </p:spPr>
        <p:txBody>
          <a:bodyPr tIns="46038" bIns="46038">
            <a:normAutofit/>
          </a:bodyPr>
          <a:lstStyle/>
          <a:p>
            <a:r>
              <a:rPr lang="en-US" sz="3200" dirty="0">
                <a:cs typeface="Times New Roman" pitchFamily="18" charset="0"/>
              </a:rPr>
              <a:t>Software everywhere</a:t>
            </a:r>
          </a:p>
          <a:p>
            <a:pPr lvl="1"/>
            <a:r>
              <a:rPr lang="en-US" sz="3000" dirty="0">
                <a:cs typeface="Times New Roman" pitchFamily="18" charset="0"/>
              </a:rPr>
              <a:t>Toaster, Microwave, Temperature control of A/C, Router, Surgical Equipment, search engine, chatbot, air plane, air defense… </a:t>
            </a:r>
          </a:p>
          <a:p>
            <a:pPr lvl="2"/>
            <a:r>
              <a:rPr lang="en-US" sz="2700" dirty="0">
                <a:cs typeface="Times New Roman" pitchFamily="18" charset="0"/>
              </a:rPr>
              <a:t>Make lives comfortable, efficient, effective…</a:t>
            </a:r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 rot="19998048">
            <a:off x="4621084" y="4227151"/>
            <a:ext cx="4264496" cy="156966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cs typeface="Times New Roman" pitchFamily="18" charset="0"/>
              </a:rPr>
              <a:t>SE practices ensure economic development of good software to improve our living standard</a:t>
            </a:r>
          </a:p>
          <a:p>
            <a:pPr algn="ctr"/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49300"/>
            <a:ext cx="8229600" cy="1143000"/>
          </a:xfrm>
        </p:spPr>
        <p:txBody>
          <a:bodyPr tIns="46038" bIns="46038">
            <a:normAutofit fontScale="90000"/>
          </a:bodyPr>
          <a:lstStyle/>
          <a:p>
            <a:r>
              <a:rPr lang="en-US" dirty="0"/>
              <a:t>Why do we need to study this course?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315200" cy="3505200"/>
          </a:xfrm>
        </p:spPr>
        <p:txBody>
          <a:bodyPr tIns="46038" bIns="46038">
            <a:noAutofit/>
          </a:bodyPr>
          <a:lstStyle/>
          <a:p>
            <a:r>
              <a:rPr lang="en-US" sz="2800" dirty="0"/>
              <a:t>What could be the benefits?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dirty="0"/>
              <a:t>Analysis</a:t>
            </a:r>
          </a:p>
          <a:p>
            <a:pPr eaLnBrk="1" hangingPunct="1"/>
            <a:endParaRPr lang="en-GB" dirty="0"/>
          </a:p>
          <a:p>
            <a:pPr eaLnBrk="1" hangingPunct="1"/>
            <a:endParaRPr lang="en-US" dirty="0"/>
          </a:p>
        </p:txBody>
      </p:sp>
      <p:pic>
        <p:nvPicPr>
          <p:cNvPr id="6148" name="Picture 11" descr="Slide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2492375"/>
            <a:ext cx="7315200" cy="406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92919" y="499533"/>
            <a:ext cx="8079581" cy="1658198"/>
          </a:xfrm>
        </p:spPr>
        <p:txBody>
          <a:bodyPr>
            <a:normAutofit/>
          </a:bodyPr>
          <a:lstStyle/>
          <a:p>
            <a:pPr eaLnBrk="1" hangingPunct="1"/>
            <a:r>
              <a:rPr lang="en-GB" dirty="0"/>
              <a:t>Solving Problems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14481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dirty="0"/>
              <a:t>Solving Problems (continued)</a:t>
            </a:r>
            <a:endParaRPr 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dirty="0"/>
              <a:t>Synthesis</a:t>
            </a:r>
          </a:p>
          <a:p>
            <a:pPr eaLnBrk="1" hangingPunct="1"/>
            <a:endParaRPr lang="en-GB" dirty="0"/>
          </a:p>
          <a:p>
            <a:pPr eaLnBrk="1" hangingPunct="1"/>
            <a:endParaRPr lang="en-US" dirty="0"/>
          </a:p>
        </p:txBody>
      </p:sp>
      <p:pic>
        <p:nvPicPr>
          <p:cNvPr id="7172" name="Picture 11" descr="Slide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2493962"/>
            <a:ext cx="7391400" cy="413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2432595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Solving Problems</a:t>
            </a:r>
          </a:p>
          <a:p>
            <a:pPr lvl="1"/>
            <a:r>
              <a:rPr lang="en-US" sz="3200" dirty="0"/>
              <a:t>Computers</a:t>
            </a:r>
          </a:p>
          <a:p>
            <a:pPr lvl="1"/>
            <a:r>
              <a:rPr lang="en-US" sz="3200" dirty="0"/>
              <a:t>Computing</a:t>
            </a:r>
          </a:p>
        </p:txBody>
      </p:sp>
      <p:sp>
        <p:nvSpPr>
          <p:cNvPr id="4" name="TextBox 3"/>
          <p:cNvSpPr txBox="1"/>
          <p:nvPr/>
        </p:nvSpPr>
        <p:spPr>
          <a:xfrm rot="19998048">
            <a:off x="4265692" y="4001629"/>
            <a:ext cx="4264496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cs typeface="Times New Roman" pitchFamily="18" charset="0"/>
              </a:rPr>
              <a:t>Multi-person construction of multi-version software</a:t>
            </a:r>
          </a:p>
          <a:p>
            <a:pPr algn="ctr"/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38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Computer programs along with associated configuration data and documentation </a:t>
            </a:r>
            <a:r>
              <a:rPr lang="en-US" dirty="0" err="1"/>
              <a:t>s.t.</a:t>
            </a:r>
            <a:r>
              <a:rPr lang="en-US" dirty="0"/>
              <a:t> the programs are correctly operated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Configuration data helps set up the programs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System documentation helps understand structure of the system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User documentation explains how to use the system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Example? </a:t>
            </a:r>
          </a:p>
          <a:p>
            <a:pPr lvl="2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95599" y="4343400"/>
          <a:ext cx="6096001" cy="2362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98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9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9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Fruit 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Fruit 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Fruit 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Farmer 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Garden 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Garden 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Garden 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Farmer 2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Garden 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Garden 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Garden 6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Farmer 3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Garden 7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Garden 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Garden 9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4139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Engineering?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Engineers’ Job?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Make things work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Apply theories, methodologies, tools appropriately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Provide solutions in absence of applicable theories and methods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Realize financial and organizational constraints </a:t>
            </a:r>
          </a:p>
        </p:txBody>
      </p:sp>
    </p:spTree>
    <p:extLst>
      <p:ext uri="{BB962C8B-B14F-4D97-AF65-F5344CB8AC3E}">
        <p14:creationId xmlns:p14="http://schemas.microsoft.com/office/powerpoint/2010/main" val="20771850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762000"/>
            <a:ext cx="8229600" cy="1143000"/>
          </a:xfrm>
        </p:spPr>
        <p:txBody>
          <a:bodyPr tIns="46038" bIns="46038"/>
          <a:lstStyle/>
          <a:p>
            <a:r>
              <a:rPr lang="en-US" dirty="0"/>
              <a:t>Software Engineering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981200"/>
            <a:ext cx="8077200" cy="4038600"/>
          </a:xfrm>
        </p:spPr>
        <p:txBody>
          <a:bodyPr tIns="46038" bIns="46038"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cs typeface="Times New Roman" pitchFamily="18" charset="0"/>
              </a:rPr>
              <a:t> Solving problems that involve computing and computers?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cs typeface="Times New Roman" pitchFamily="18" charset="0"/>
              </a:rPr>
              <a:t> Solving problems that involve computing and computers in a consistent/systematic manner?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 A set of guidelines for solving the computing and computer related problems in a systematic manner?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0000"/>
                </a:solidFill>
              </a:rPr>
              <a:t>Engineering</a:t>
            </a:r>
            <a:r>
              <a:rPr lang="en-US" sz="3000" dirty="0"/>
              <a:t> software by remaining concerned about </a:t>
            </a:r>
            <a:r>
              <a:rPr lang="en-US" sz="3000" dirty="0">
                <a:solidFill>
                  <a:srgbClr val="FF0000"/>
                </a:solidFill>
              </a:rPr>
              <a:t>all aspects of software production</a:t>
            </a:r>
            <a:r>
              <a:rPr lang="en-US" sz="3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29792053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Aspects of Software Production?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Size of the software system to be built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Complexity of the software system to be built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Need and involvement of teams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Technical process of developing software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Activities such as management of project and teams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Development of tools, theories, methods to support production of software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803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Software Engineering Team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4818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144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GB" dirty="0"/>
              <a:t>Who Does Software Engineering? 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438400"/>
            <a:ext cx="8229600" cy="3886200"/>
          </a:xfrm>
        </p:spPr>
        <p:txBody>
          <a:bodyPr/>
          <a:lstStyle/>
          <a:p>
            <a:pPr eaLnBrk="1" hangingPunct="1"/>
            <a:r>
              <a:rPr lang="en-GB" dirty="0"/>
              <a:t>Participants (stakeholders) in a software development project</a:t>
            </a:r>
          </a:p>
          <a:p>
            <a:pPr eaLnBrk="1" hangingPunct="1"/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2743200" y="2841625"/>
            <a:ext cx="6400800" cy="3787775"/>
            <a:chOff x="2743200" y="2841625"/>
            <a:chExt cx="6400800" cy="3787775"/>
          </a:xfrm>
        </p:grpSpPr>
        <p:pic>
          <p:nvPicPr>
            <p:cNvPr id="22532" name="Picture 8" descr="Slide7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743200" y="2841625"/>
              <a:ext cx="5943600" cy="3787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" name="Rectangle 1"/>
            <p:cNvSpPr/>
            <p:nvPr/>
          </p:nvSpPr>
          <p:spPr>
            <a:xfrm>
              <a:off x="6705600" y="4430712"/>
              <a:ext cx="2438400" cy="2936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SOFTWARE ENGINEER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4052578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144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GB" dirty="0"/>
              <a:t>Development/SE Team</a:t>
            </a:r>
            <a:endParaRPr lang="en-US" sz="2800" dirty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2209800"/>
            <a:ext cx="8229600" cy="41148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/>
              <a:t>Requirements analysts</a:t>
            </a:r>
            <a:r>
              <a:rPr lang="en-GB" sz="2400" dirty="0"/>
              <a:t>: work with the customers to identify and document the requirements</a:t>
            </a:r>
          </a:p>
          <a:p>
            <a:pPr eaLnBrk="1" hangingPunct="1"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/>
              <a:t>Designers</a:t>
            </a:r>
            <a:r>
              <a:rPr lang="en-GB" sz="2400" dirty="0"/>
              <a:t>: generate a system-level description of what the system is supposed to do</a:t>
            </a:r>
          </a:p>
          <a:p>
            <a:pPr eaLnBrk="1" hangingPunct="1"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/>
              <a:t>Programmers</a:t>
            </a:r>
            <a:r>
              <a:rPr lang="en-GB" sz="2400" dirty="0"/>
              <a:t>: write lines of code to implement the design</a:t>
            </a:r>
          </a:p>
          <a:p>
            <a:pPr eaLnBrk="1" hangingPunct="1"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/>
              <a:t>Testers</a:t>
            </a:r>
            <a:r>
              <a:rPr lang="en-GB" sz="2400" dirty="0"/>
              <a:t>: catch faults</a:t>
            </a:r>
          </a:p>
          <a:p>
            <a:pPr eaLnBrk="1" hangingPunct="1"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/>
              <a:t>Trainers</a:t>
            </a:r>
            <a:r>
              <a:rPr lang="en-GB" sz="2400" dirty="0"/>
              <a:t>: show users how to use the system</a:t>
            </a:r>
          </a:p>
          <a:p>
            <a:pPr eaLnBrk="1" hangingPunct="1"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/>
              <a:t>Maintenance team</a:t>
            </a:r>
            <a:r>
              <a:rPr lang="en-GB" sz="2400" dirty="0"/>
              <a:t>: fix faults that show up later</a:t>
            </a:r>
          </a:p>
          <a:p>
            <a:pPr eaLnBrk="1" hangingPunct="1"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/>
              <a:t>Librarians</a:t>
            </a:r>
            <a:r>
              <a:rPr lang="en-GB" sz="2400" dirty="0"/>
              <a:t>: prepare and store documents such as software requirements</a:t>
            </a:r>
          </a:p>
          <a:p>
            <a:pPr eaLnBrk="1" hangingPunct="1"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/>
              <a:t>Configuration management team</a:t>
            </a:r>
            <a:r>
              <a:rPr lang="en-GB" sz="2400" dirty="0"/>
              <a:t>: maintain correspondence among various artefacts</a:t>
            </a:r>
          </a:p>
        </p:txBody>
      </p:sp>
    </p:spTree>
    <p:extLst>
      <p:ext uri="{BB962C8B-B14F-4D97-AF65-F5344CB8AC3E}">
        <p14:creationId xmlns:p14="http://schemas.microsoft.com/office/powerpoint/2010/main" val="3745153050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144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GB" dirty="0"/>
              <a:t>Development Team (Roles)</a:t>
            </a:r>
            <a:endParaRPr lang="en-US" sz="2800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dirty="0"/>
              <a:t>Who Does What?</a:t>
            </a:r>
          </a:p>
          <a:p>
            <a:pPr eaLnBrk="1" hangingPunct="1"/>
            <a:endParaRPr lang="en-US" dirty="0"/>
          </a:p>
        </p:txBody>
      </p:sp>
      <p:pic>
        <p:nvPicPr>
          <p:cNvPr id="1026" name="Picture 2" descr="D:\UCP Data\UCP\Fall 2015-16\ISD\Lecture Slides\roles of dev team se_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-2265"/>
            <a:ext cx="7162800" cy="6676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5093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144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GB" dirty="0"/>
              <a:t>Software Lifecycle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438400"/>
            <a:ext cx="8229600" cy="3886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Phases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Requirements analysis and definition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System (architecture) design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Program (detailed/procedural) design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Writing programs (coding/implementation)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Testing: unit, integration, system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System delivery (deployment)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Maintenance </a:t>
            </a:r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914400" y="5562600"/>
            <a:ext cx="74676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970505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Software Engineering and Software Quality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9470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Engineers?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Adopt a systematic and organized approach, effectively, to produce high quality software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May have to use Ad hoc approaches to develop software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Some real complex problems may not be solved using elegant theories of CS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new algorithms?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06669" y="1994079"/>
            <a:ext cx="8065294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Adopt a systematic and organized approach, effectively, to produce </a:t>
            </a:r>
            <a:r>
              <a:rPr lang="en-US" u="sng" dirty="0">
                <a:solidFill>
                  <a:srgbClr val="FF0000"/>
                </a:solidFill>
              </a:rPr>
              <a:t>high quality software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May have to use Ad hoc approaches to develop software</a:t>
            </a:r>
          </a:p>
          <a:p>
            <a:pPr lvl="2">
              <a:buFont typeface="Arial" pitchFamily="34" charset="0"/>
              <a:buChar char="•"/>
            </a:pPr>
            <a:r>
              <a:rPr lang="en-US" dirty="0"/>
              <a:t>Some real complex problems may not be solved using elegant theories of CS</a:t>
            </a:r>
          </a:p>
          <a:p>
            <a:pPr lvl="2">
              <a:buFont typeface="Arial" pitchFamily="34" charset="0"/>
              <a:buChar char="•"/>
            </a:pPr>
            <a:r>
              <a:rPr lang="en-US" dirty="0"/>
              <a:t>new algorithms?</a:t>
            </a:r>
          </a:p>
          <a:p>
            <a:pPr lvl="1"/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143000" y="5410200"/>
            <a:ext cx="7086600" cy="838200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6038" rIns="91440" bIns="46038" rtlCol="0">
            <a:no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400" dirty="0">
                <a:solidFill>
                  <a:srgbClr val="FF0000"/>
                </a:solidFill>
                <a:cs typeface="Times New Roman" pitchFamily="18" charset="0"/>
              </a:rPr>
              <a:t>Improve living standards</a:t>
            </a:r>
          </a:p>
          <a:p>
            <a:pPr algn="ctr"/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254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Defects and Software Quality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DD400-CC96-42FA-80E5-F9CA3AD0FBE0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1779896"/>
            <a:ext cx="8229600" cy="4544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Defect</a:t>
            </a:r>
          </a:p>
          <a:p>
            <a:pPr lvl="1"/>
            <a:r>
              <a:rPr lang="en-US" dirty="0"/>
              <a:t>Failure to meet requirements (or expectations) of user/customer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Kan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2002)</a:t>
            </a:r>
            <a:endParaRPr lang="en-US" dirty="0"/>
          </a:p>
          <a:p>
            <a:r>
              <a:rPr lang="en-US" dirty="0"/>
              <a:t>Software Quality</a:t>
            </a:r>
          </a:p>
          <a:p>
            <a:pPr lvl="1"/>
            <a:r>
              <a:rPr lang="en-US" dirty="0"/>
              <a:t>Fitness for Use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Juran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and 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Gryna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1970)</a:t>
            </a:r>
            <a:endParaRPr lang="en-US" sz="1800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dirty="0"/>
              <a:t>Conformance to Requirements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(Crosby 1979)</a:t>
            </a:r>
            <a:endParaRPr lang="en-US" sz="1800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dirty="0"/>
              <a:t>Freedom from Deficiencies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Juran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1988)</a:t>
            </a:r>
            <a:endParaRPr lang="en-US" sz="1800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dirty="0"/>
              <a:t>Lack of Defects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Kan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2002)</a:t>
            </a:r>
            <a:endParaRPr lang="en-US" sz="1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38200" y="4353580"/>
            <a:ext cx="7696200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2800" dirty="0"/>
              <a:t>Removal of defects, increases quality, incurs cost.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769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617" y="45352"/>
            <a:ext cx="8686800" cy="1143000"/>
          </a:xfrm>
        </p:spPr>
        <p:txBody>
          <a:bodyPr>
            <a:noAutofit/>
          </a:bodyPr>
          <a:lstStyle/>
          <a:p>
            <a:r>
              <a:rPr lang="en-US" sz="4000" dirty="0"/>
              <a:t>Cost Associated with Defect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4572000"/>
            <a:ext cx="7315200" cy="45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*Testing the system before delivery and at the time of delivery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DD400-CC96-42FA-80E5-F9CA3AD0FBE0}" type="slidenum">
              <a:rPr lang="en-US" smtClean="0"/>
              <a:pPr/>
              <a:t>33</a:t>
            </a:fld>
            <a:endParaRPr lang="en-US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/>
        </p:nvGraphicFramePr>
        <p:xfrm>
          <a:off x="854332" y="3886200"/>
          <a:ext cx="7070468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6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1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9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9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74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Requirements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Testing and</a:t>
                      </a:r>
                    </a:p>
                    <a:p>
                      <a:pPr algn="ctr"/>
                      <a:r>
                        <a:rPr lang="en-US" sz="1600" dirty="0"/>
                        <a:t>Deployment*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Operations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hart 7"/>
          <p:cNvGraphicFramePr/>
          <p:nvPr/>
        </p:nvGraphicFramePr>
        <p:xfrm>
          <a:off x="533400" y="1143000"/>
          <a:ext cx="73152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362200" y="6096000"/>
            <a:ext cx="441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Khoshgoftaar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et al. 1996 , 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Galin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2004)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687" y="1219200"/>
            <a:ext cx="461665" cy="26670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dirty="0"/>
              <a:t>Unit Cost to fix a defect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47800" y="3200400"/>
            <a:ext cx="6629400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2800" dirty="0"/>
              <a:t>Defects prevention can reduce costs.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88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Costs in 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Cost to change software</a:t>
            </a:r>
          </a:p>
          <a:p>
            <a:r>
              <a:rPr lang="en-US" dirty="0"/>
              <a:t>Cost to overcome a mistake (defect)</a:t>
            </a:r>
          </a:p>
          <a:p>
            <a:r>
              <a:rPr lang="en-US" dirty="0"/>
              <a:t>Cost of developing software</a:t>
            </a:r>
          </a:p>
          <a:p>
            <a:r>
              <a:rPr lang="en-US" dirty="0"/>
              <a:t>Operational cost</a:t>
            </a:r>
          </a:p>
          <a:p>
            <a:r>
              <a:rPr lang="en-US" dirty="0"/>
              <a:t>Deployment cost</a:t>
            </a:r>
          </a:p>
        </p:txBody>
      </p:sp>
    </p:spTree>
    <p:extLst>
      <p:ext uri="{BB962C8B-B14F-4D97-AF65-F5344CB8AC3E}">
        <p14:creationId xmlns:p14="http://schemas.microsoft.com/office/powerpoint/2010/main" val="8613270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Engineering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Acceptable Quality</a:t>
            </a:r>
          </a:p>
          <a:p>
            <a:pPr lvl="1"/>
            <a:r>
              <a:rPr lang="en-US" dirty="0"/>
              <a:t>Usability</a:t>
            </a:r>
          </a:p>
          <a:p>
            <a:pPr lvl="1"/>
            <a:r>
              <a:rPr lang="en-US" dirty="0"/>
              <a:t>Security</a:t>
            </a:r>
          </a:p>
          <a:p>
            <a:pPr lvl="1"/>
            <a:r>
              <a:rPr lang="en-US" dirty="0"/>
              <a:t>Reliability</a:t>
            </a:r>
          </a:p>
          <a:p>
            <a:pPr lvl="1"/>
            <a:r>
              <a:rPr lang="en-US" dirty="0"/>
              <a:t>Performance</a:t>
            </a:r>
          </a:p>
          <a:p>
            <a:r>
              <a:rPr lang="en-US" dirty="0"/>
              <a:t>Cost Effectiveness</a:t>
            </a:r>
          </a:p>
          <a:p>
            <a:pPr lvl="1"/>
            <a:r>
              <a:rPr lang="en-US" dirty="0"/>
              <a:t>Engineering and operational feasibility</a:t>
            </a:r>
          </a:p>
          <a:p>
            <a:pPr lvl="1"/>
            <a:r>
              <a:rPr lang="en-US" dirty="0"/>
              <a:t>Limited development budget</a:t>
            </a:r>
          </a:p>
          <a:p>
            <a:r>
              <a:rPr lang="en-US" dirty="0"/>
              <a:t>Timely Completion</a:t>
            </a:r>
          </a:p>
          <a:p>
            <a:pPr lvl="1"/>
            <a:r>
              <a:rPr lang="en-US" dirty="0"/>
              <a:t>Limited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854067"/>
            <a:ext cx="4114800" cy="1015663"/>
          </a:xfrm>
          <a:prstGeom prst="rect">
            <a:avLst/>
          </a:prstGeom>
          <a:solidFill>
            <a:srgbClr val="FFFF00">
              <a:alpha val="64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FF0000"/>
                </a:solidFill>
              </a:rPr>
              <a:t>Conflicts?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95600" y="4474191"/>
            <a:ext cx="5791200" cy="1938992"/>
          </a:xfrm>
          <a:prstGeom prst="rect">
            <a:avLst/>
          </a:prstGeom>
          <a:solidFill>
            <a:schemeClr val="accent6">
              <a:alpha val="64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00B050"/>
                </a:solidFill>
              </a:rPr>
              <a:t>Manage Conflicts…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10347" y="1600297"/>
            <a:ext cx="3581401" cy="1200329"/>
          </a:xfrm>
          <a:prstGeom prst="rect">
            <a:avLst/>
          </a:prstGeom>
          <a:solidFill>
            <a:schemeClr val="accent6">
              <a:alpha val="64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00B050"/>
                </a:solidFill>
              </a:rPr>
              <a:t>… good enough software</a:t>
            </a:r>
          </a:p>
        </p:txBody>
      </p:sp>
    </p:spTree>
    <p:extLst>
      <p:ext uri="{BB962C8B-B14F-4D97-AF65-F5344CB8AC3E}">
        <p14:creationId xmlns:p14="http://schemas.microsoft.com/office/powerpoint/2010/main" val="235516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Disciplined, consistent, and systematic effort to construct (design + build) </a:t>
            </a:r>
            <a:r>
              <a:rPr lang="en-US"/>
              <a:t>and maintain </a:t>
            </a:r>
            <a:r>
              <a:rPr lang="en-US" dirty="0"/>
              <a:t>software in timely and cost-effective manner</a:t>
            </a:r>
          </a:p>
        </p:txBody>
      </p:sp>
    </p:spTree>
    <p:extLst>
      <p:ext uri="{BB962C8B-B14F-4D97-AF65-F5344CB8AC3E}">
        <p14:creationId xmlns:p14="http://schemas.microsoft.com/office/powerpoint/2010/main" val="7669030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References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35480"/>
            <a:ext cx="8229600" cy="294132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Roger Pressman, Software Engineering: A Practitioner’s Approach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Ghezzi</a:t>
            </a:r>
            <a:r>
              <a:rPr lang="en-US" dirty="0"/>
              <a:t> et al., Fundamentals of Software Engineering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Pfleeger</a:t>
            </a:r>
            <a:r>
              <a:rPr lang="en-US" dirty="0"/>
              <a:t> et al. Software Engineering, Theory </a:t>
            </a:r>
            <a:r>
              <a:rPr lang="en-US"/>
              <a:t>and Practice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105936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32557</TotalTime>
  <Words>1951</Words>
  <Application>Microsoft Office PowerPoint</Application>
  <PresentationFormat>On-screen Show (4:3)</PresentationFormat>
  <Paragraphs>253</Paragraphs>
  <Slides>37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Calibri Light</vt:lpstr>
      <vt:lpstr>Courier New</vt:lpstr>
      <vt:lpstr>Times New Roman</vt:lpstr>
      <vt:lpstr>Metropolitan</vt:lpstr>
      <vt:lpstr>Introduction to Software Engineering</vt:lpstr>
      <vt:lpstr>Tentative Grade Distribution</vt:lpstr>
      <vt:lpstr>Text Books</vt:lpstr>
      <vt:lpstr>Course Information</vt:lpstr>
      <vt:lpstr>About Me</vt:lpstr>
      <vt:lpstr>Tentative Outline</vt:lpstr>
      <vt:lpstr>PowerPoint Presentation</vt:lpstr>
      <vt:lpstr>Software Development</vt:lpstr>
      <vt:lpstr>Challenges for Software Industry</vt:lpstr>
      <vt:lpstr>Industry Challenges and Software Defects</vt:lpstr>
      <vt:lpstr>Example</vt:lpstr>
      <vt:lpstr>Example</vt:lpstr>
      <vt:lpstr>Exercise</vt:lpstr>
      <vt:lpstr>Example</vt:lpstr>
      <vt:lpstr>Example</vt:lpstr>
      <vt:lpstr>Why is SE Needed?</vt:lpstr>
      <vt:lpstr>Why do we need to study this course?</vt:lpstr>
      <vt:lpstr>Solving Problems</vt:lpstr>
      <vt:lpstr>Solving Problems (continued)</vt:lpstr>
      <vt:lpstr>Software Engineering</vt:lpstr>
      <vt:lpstr>Software?</vt:lpstr>
      <vt:lpstr>Engineering?</vt:lpstr>
      <vt:lpstr>Software Engineering</vt:lpstr>
      <vt:lpstr>Aspects of Software Production?</vt:lpstr>
      <vt:lpstr>Software Engineering Team</vt:lpstr>
      <vt:lpstr>Who Does Software Engineering? </vt:lpstr>
      <vt:lpstr>Development/SE Team</vt:lpstr>
      <vt:lpstr>Development Team (Roles)</vt:lpstr>
      <vt:lpstr>Software Lifecycle</vt:lpstr>
      <vt:lpstr>Software Engineering and Software Quality</vt:lpstr>
      <vt:lpstr>Software Engineers?</vt:lpstr>
      <vt:lpstr>Defects and Software Quality</vt:lpstr>
      <vt:lpstr>Cost Associated with Defect Correction</vt:lpstr>
      <vt:lpstr>Costs in Software Engineering</vt:lpstr>
      <vt:lpstr>Software Engineering Challenges</vt:lpstr>
      <vt:lpstr>Software Engineering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aadil</dc:creator>
  <cp:lastModifiedBy>Zeeshan</cp:lastModifiedBy>
  <cp:revision>296</cp:revision>
  <dcterms:created xsi:type="dcterms:W3CDTF">2011-09-06T15:43:21Z</dcterms:created>
  <dcterms:modified xsi:type="dcterms:W3CDTF">2026-09-01T15:42:18Z</dcterms:modified>
</cp:coreProperties>
</file>